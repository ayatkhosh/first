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AF4BA-4EFA-4219-8ACA-8BBEB8ADD5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35E7A4-17C8-4D65-A30A-6070A02F6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DE4B9-7C41-4312-84B2-FA6927B2C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19CD-408E-44DD-86E8-F08E688C768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61780-29D4-4BAB-AFE1-11C347130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0C53E-C100-4613-AB46-96E0168F9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C84A7-D2B6-4132-9A98-CC4A729C6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94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DE61B-D547-4658-9CFB-9D0DF48EB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E5A9E-FED1-4090-B6DC-03ACD0DC6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848BE-CB4F-4955-8F83-D9BA71E9B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19CD-408E-44DD-86E8-F08E688C768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58117-F6FD-4EBC-A505-1B8B26B85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6AC1C-9076-464B-95BC-54896D8BD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C84A7-D2B6-4132-9A98-CC4A729C6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051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32EC5-5964-4B5E-BDAE-A59CB42F6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F382D-2E11-489D-A625-E4826E6C20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E416C-E653-43D5-9CAF-201DE8A24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19CD-408E-44DD-86E8-F08E688C768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6D7402-3BC4-4BD0-82C4-9EC94D091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47D45-8565-4BE7-91B8-34D49F726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C84A7-D2B6-4132-9A98-CC4A729C6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642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9E95E-34A8-4C4B-B001-7F0C880F6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D4F86-7CC3-4559-8371-EE907270E4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5E436-CD3D-4A88-8525-F2A41DCF6C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BD0B36-8825-4FC0-80D3-F5E6F0C57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19CD-408E-44DD-86E8-F08E688C768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791992-C908-47C2-B32D-6190D84F2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704EED-C863-471E-B8C4-33E779423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C84A7-D2B6-4132-9A98-CC4A729C6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154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A2C80-1D8A-4542-ADF1-FF545AD36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3A4D5-23FD-4BD1-AB43-BC56E13D05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F0AD7E-571C-4BE1-96E7-7DDF52270D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5232DC-077B-4605-9F00-4F57C2B070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485120-786F-4E44-A805-BB168D5AC5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0E0993-2741-4BCB-8748-C7A396E6B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19CD-408E-44DD-86E8-F08E688C768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A5FCFF-3428-43B4-A5BE-024A29B94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02842E-227A-4520-A462-D59C82EFD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C84A7-D2B6-4132-9A98-CC4A729C6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486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EAFEB-A99C-4844-A055-8C759A3CB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296035-C8A8-4B77-8ACF-2161BD5F4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19CD-408E-44DD-86E8-F08E688C768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339178-18D8-4EA2-A187-5BF895372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9D05D7-B57E-475A-89BF-C8826A136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C84A7-D2B6-4132-9A98-CC4A729C6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553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80AD23-1075-493A-883F-170623FB3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19CD-408E-44DD-86E8-F08E688C768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A02C98-5364-415E-A6A3-CE8565CA7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AFD190-885F-4606-9824-3ACFDDFFE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C84A7-D2B6-4132-9A98-CC4A729C6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496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BA7A1-31AE-4013-91BE-B0F7EBB25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96C87-548B-45A1-9A1E-0E661003F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AFE705-0E71-4BCC-80FF-14D26B4010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AF0F30-0A07-4BCD-9E92-1762B9A0F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19CD-408E-44DD-86E8-F08E688C768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75E2CF-22D9-43EC-A2FE-531CEC00F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A25E03-EF37-4DEB-8FA8-7F4A64B2A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C84A7-D2B6-4132-9A98-CC4A729C6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490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CA4D1-83A4-4513-B663-8BCF18E91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CFC8D7-B438-4AA3-8D1A-FB4F612527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92DD68-B275-4441-88A2-5AADD61546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AAD6BD-DE4B-411A-B509-FA7FF2D02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19CD-408E-44DD-86E8-F08E688C768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157491-803B-4714-A35E-9C7501F42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FEC55A-D127-4FCB-BE13-9A8A6B60B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C84A7-D2B6-4132-9A98-CC4A729C6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368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E700C-5C9C-47B2-9E0C-AF83880F0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6F3B1-153C-4C68-995E-B59EEC1688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8865A-9F10-4F7E-8425-90DCF24DA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19CD-408E-44DD-86E8-F08E688C768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71E49-B5D2-406E-8580-4451D9166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A80717-2E81-4F67-B249-0D364B5DF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C84A7-D2B6-4132-9A98-CC4A729C6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595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FC99B9-CB13-449C-B34F-3C56038D50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5B346C-D631-4453-8D7A-3B408D57D6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1DE7B7-2886-4B1E-92A1-2B2B1E08D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19CD-408E-44DD-86E8-F08E688C768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3B8A3-9460-48FB-80BF-6DA034270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411C2-429A-4598-A854-035EADFCE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C84A7-D2B6-4132-9A98-CC4A729C6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957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C25548-8FFE-4EDC-8147-3277F8104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3BA236-ACC4-452D-94ED-EDDBB96C7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D80915-89B2-4BBB-9D28-A3DEB3786F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419CD-408E-44DD-86E8-F08E688C768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B57229-4921-4F98-A9D2-D9972B6E1B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12C1B-4A78-4086-BF74-B9887E040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9C84A7-D2B6-4132-9A98-CC4A729C6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941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ED0BD-ECFE-4E04-B5C6-E2FCDCB865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6510" y="3382866"/>
            <a:ext cx="9144000" cy="1475110"/>
          </a:xfrm>
        </p:spPr>
        <p:txBody>
          <a:bodyPr/>
          <a:lstStyle/>
          <a:p>
            <a:r>
              <a:rPr lang="en-US" dirty="0"/>
              <a:t>Secret-Key Encryption</a:t>
            </a:r>
          </a:p>
        </p:txBody>
      </p:sp>
    </p:spTree>
    <p:extLst>
      <p:ext uri="{BB962C8B-B14F-4D97-AF65-F5344CB8AC3E}">
        <p14:creationId xmlns:p14="http://schemas.microsoft.com/office/powerpoint/2010/main" val="3257837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B02FF-83B7-4E05-97CA-0CDABED94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Encryption Standard (AES)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BE9AD-D415-4B95-8E47-47ADB34CB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AES is a block cipher</a:t>
            </a:r>
          </a:p>
          <a:p>
            <a:r>
              <a:rPr lang="en-US" dirty="0"/>
              <a:t>128-bit block size.</a:t>
            </a:r>
          </a:p>
          <a:p>
            <a:r>
              <a:rPr lang="en-US" dirty="0"/>
              <a:t>Three different key sizes: 128, 192, and 256 bits</a:t>
            </a:r>
          </a:p>
        </p:txBody>
      </p:sp>
    </p:spTree>
    <p:extLst>
      <p:ext uri="{BB962C8B-B14F-4D97-AF65-F5344CB8AC3E}">
        <p14:creationId xmlns:p14="http://schemas.microsoft.com/office/powerpoint/2010/main" val="1497050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76E91-E4A0-4BAE-9BB8-10469FCD7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Encryption Modes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25B74-3034-46CD-9BEB-DCB2EC1DA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F77AB9-C02E-4DA3-B790-703201A20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664" y="2352253"/>
            <a:ext cx="9656672" cy="3298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188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76E91-E4A0-4BAE-9BB8-10469FCD7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Encryption Modes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25B74-3034-46CD-9BEB-DCB2EC1DA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Encryption mode or mode of operation refers to the many ways to make the input of an encryption algorithm different.</a:t>
            </a:r>
          </a:p>
          <a:p>
            <a:r>
              <a:rPr lang="en-US" dirty="0"/>
              <a:t>Examples include:</a:t>
            </a:r>
          </a:p>
          <a:p>
            <a:pPr lvl="1"/>
            <a:r>
              <a:rPr lang="en-US" dirty="0"/>
              <a:t>Electronic Codebook (ECB)</a:t>
            </a:r>
          </a:p>
          <a:p>
            <a:pPr lvl="1"/>
            <a:r>
              <a:rPr lang="en-US" dirty="0"/>
              <a:t>Cipher Block Chaining (CBC)</a:t>
            </a:r>
          </a:p>
          <a:p>
            <a:pPr lvl="1"/>
            <a:r>
              <a:rPr lang="en-US" dirty="0"/>
              <a:t>Propagating CBC (PCBC)</a:t>
            </a:r>
          </a:p>
          <a:p>
            <a:pPr lvl="1"/>
            <a:r>
              <a:rPr lang="en-US" dirty="0"/>
              <a:t>Cipher Feedback (CFB)</a:t>
            </a:r>
          </a:p>
          <a:p>
            <a:pPr lvl="1"/>
            <a:r>
              <a:rPr lang="en-US" dirty="0"/>
              <a:t>Output Feedback (OFB)</a:t>
            </a:r>
          </a:p>
          <a:p>
            <a:pPr lvl="1"/>
            <a:r>
              <a:rPr lang="en-US" dirty="0"/>
              <a:t>Counter (CTR)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662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A315C-16A5-4CF0-AC0F-E0B75B6A8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Electronic Codebook (ECB) Mode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7E3677-EE0A-4D0B-AF14-A8A684D4D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9442" y="1478653"/>
            <a:ext cx="7213116" cy="4812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005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A315C-16A5-4CF0-AC0F-E0B75B6A8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Electronic Codebook (ECB)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E8BB7-3729-4083-A823-B01FD9D58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Using </a:t>
            </a:r>
            <a:r>
              <a:rPr lang="en-US" dirty="0" err="1">
                <a:latin typeface="Consolas" panose="020B0609020204030204" pitchFamily="49" charset="0"/>
              </a:rPr>
              <a:t>openssl</a:t>
            </a:r>
            <a:r>
              <a:rPr lang="en-US" dirty="0">
                <a:latin typeface="Consolas" panose="020B0609020204030204" pitchFamily="49" charset="0"/>
              </a:rPr>
              <a:t> enc </a:t>
            </a:r>
            <a:r>
              <a:rPr lang="en-US" dirty="0"/>
              <a:t>command: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use the 128-bit (key size) AES algorithm</a:t>
            </a:r>
          </a:p>
          <a:p>
            <a:r>
              <a:rPr lang="en-US" dirty="0"/>
              <a:t>The </a:t>
            </a:r>
            <a:r>
              <a:rPr lang="en-US" b="1" dirty="0"/>
              <a:t>-aes-128-ecb </a:t>
            </a:r>
            <a:r>
              <a:rPr lang="en-US" dirty="0"/>
              <a:t>option specifies ECB mode </a:t>
            </a:r>
          </a:p>
          <a:p>
            <a:r>
              <a:rPr lang="en-US" dirty="0"/>
              <a:t> The</a:t>
            </a:r>
            <a:r>
              <a:rPr lang="en-US" b="1" dirty="0"/>
              <a:t> -e </a:t>
            </a:r>
            <a:r>
              <a:rPr lang="en-US" dirty="0"/>
              <a:t>option indicates encryption</a:t>
            </a:r>
          </a:p>
          <a:p>
            <a:r>
              <a:rPr lang="en-US" dirty="0"/>
              <a:t> The </a:t>
            </a:r>
            <a:r>
              <a:rPr lang="en-US" b="1" dirty="0"/>
              <a:t>-d </a:t>
            </a:r>
            <a:r>
              <a:rPr lang="en-US" dirty="0"/>
              <a:t>option indicate decryption </a:t>
            </a:r>
          </a:p>
          <a:p>
            <a:r>
              <a:rPr lang="en-US" dirty="0"/>
              <a:t> The </a:t>
            </a:r>
            <a:r>
              <a:rPr lang="en-US" b="1" dirty="0"/>
              <a:t>-K </a:t>
            </a:r>
            <a:r>
              <a:rPr lang="en-US" dirty="0"/>
              <a:t>option is used to specify the encryption/decryption key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8A4825-A56B-4A8A-88A8-1881A105C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840" y="2427219"/>
            <a:ext cx="10692875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194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CF4F3-611F-499F-BA03-E42A18801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Cipher Block Chaining (CBC) Mode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38416E-06E5-410E-88D5-7743DF999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056" y="1318503"/>
            <a:ext cx="7248732" cy="53068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D5998CD-4ADA-4AD4-990E-AFB246C48A29}"/>
              </a:ext>
            </a:extLst>
          </p:cNvPr>
          <p:cNvSpPr txBox="1"/>
          <p:nvPr/>
        </p:nvSpPr>
        <p:spPr>
          <a:xfrm>
            <a:off x="8025788" y="2511546"/>
            <a:ext cx="384815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The main purpose of </a:t>
            </a:r>
            <a:r>
              <a:rPr lang="en-US" sz="2000" b="1" dirty="0"/>
              <a:t>IV</a:t>
            </a:r>
            <a:r>
              <a:rPr lang="en-US" sz="2000" dirty="0"/>
              <a:t> is to ensure that even if two plaintexts are identical, their ciphertexts are still different, because different IVs will be used.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Decryption </a:t>
            </a:r>
            <a:r>
              <a:rPr lang="en-US" b="1" dirty="0"/>
              <a:t>can</a:t>
            </a:r>
            <a:r>
              <a:rPr lang="en-US" dirty="0"/>
              <a:t> be parallelized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Encryption </a:t>
            </a:r>
            <a:r>
              <a:rPr lang="en-US" b="1" dirty="0"/>
              <a:t>cannot</a:t>
            </a:r>
            <a:r>
              <a:rPr lang="en-US" dirty="0"/>
              <a:t> be parallelized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33033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A315C-16A5-4CF0-AC0F-E0B75B6A8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Cipher Block Chaining (CBC)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E8BB7-3729-4083-A823-B01FD9D58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0991"/>
            <a:ext cx="10515600" cy="470597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Using </a:t>
            </a:r>
            <a:r>
              <a:rPr lang="en-US" dirty="0" err="1">
                <a:latin typeface="Consolas" panose="020B0609020204030204" pitchFamily="49" charset="0"/>
              </a:rPr>
              <a:t>openssl</a:t>
            </a:r>
            <a:r>
              <a:rPr lang="en-US" dirty="0">
                <a:latin typeface="Consolas" panose="020B0609020204030204" pitchFamily="49" charset="0"/>
              </a:rPr>
              <a:t> enc </a:t>
            </a:r>
            <a:r>
              <a:rPr lang="en-US" dirty="0"/>
              <a:t>command to encrypt the same plaintext, same key, </a:t>
            </a:r>
            <a:r>
              <a:rPr lang="en-US" b="1" dirty="0"/>
              <a:t>different IV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use the 128-bit (key size) AES algorithm</a:t>
            </a:r>
          </a:p>
          <a:p>
            <a:r>
              <a:rPr lang="en-US" dirty="0"/>
              <a:t>The </a:t>
            </a:r>
            <a:r>
              <a:rPr lang="en-US" b="1" dirty="0"/>
              <a:t>-aes-128-cbc </a:t>
            </a:r>
            <a:r>
              <a:rPr lang="en-US" dirty="0"/>
              <a:t>option specifies CBC mode </a:t>
            </a:r>
          </a:p>
          <a:p>
            <a:r>
              <a:rPr lang="en-US" dirty="0"/>
              <a:t> The</a:t>
            </a:r>
            <a:r>
              <a:rPr lang="en-US" b="1" dirty="0"/>
              <a:t> -e </a:t>
            </a:r>
            <a:r>
              <a:rPr lang="en-US" dirty="0"/>
              <a:t>option indicates encryption</a:t>
            </a:r>
          </a:p>
          <a:p>
            <a:r>
              <a:rPr lang="en-US" dirty="0"/>
              <a:t>The </a:t>
            </a:r>
            <a:r>
              <a:rPr lang="en-US" b="1" dirty="0"/>
              <a:t>-iv </a:t>
            </a:r>
            <a:r>
              <a:rPr lang="en-US" dirty="0"/>
              <a:t>option is used to specify the Initialization Vector (IV)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316244-0A39-4A92-BD40-BD5D60C3C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498" y="1834598"/>
            <a:ext cx="7688746" cy="2325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622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8B657-0EAF-41EB-8855-2A6509D9B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Cipher Feedback (CFB)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D83AA-527B-41B2-9F66-45D2D4B54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0886" y="1825625"/>
            <a:ext cx="4422913" cy="4351338"/>
          </a:xfrm>
        </p:spPr>
        <p:txBody>
          <a:bodyPr>
            <a:normAutofit/>
          </a:bodyPr>
          <a:lstStyle/>
          <a:p>
            <a:r>
              <a:rPr lang="en-US" sz="2000" dirty="0"/>
              <a:t>A block cipher is turned into a stream cipher.</a:t>
            </a:r>
          </a:p>
          <a:p>
            <a:r>
              <a:rPr lang="en-US" sz="2000" dirty="0"/>
              <a:t>Ideal for encrypting real-time data.</a:t>
            </a:r>
          </a:p>
          <a:p>
            <a:r>
              <a:rPr lang="en-US" sz="2000" dirty="0"/>
              <a:t>Padding not required for the last block.</a:t>
            </a:r>
          </a:p>
          <a:p>
            <a:r>
              <a:rPr lang="en-US" sz="2000" dirty="0"/>
              <a:t>decryption using the CFB mode can be parallelized, while encryption can only be conducted sequentially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C94045-813C-4E35-8245-802FF3746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22" y="1364975"/>
            <a:ext cx="6746064" cy="5234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764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6DA09-2229-4D79-B098-A3EF28F13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encryption with CBC and CFB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30775-964F-4D06-BE54-FFE357000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02051"/>
            <a:ext cx="10515600" cy="1674911"/>
          </a:xfrm>
        </p:spPr>
        <p:txBody>
          <a:bodyPr/>
          <a:lstStyle/>
          <a:p>
            <a:r>
              <a:rPr lang="en-US" dirty="0"/>
              <a:t>Plaintext size is 21 bytes</a:t>
            </a:r>
          </a:p>
          <a:p>
            <a:r>
              <a:rPr lang="en-US" dirty="0"/>
              <a:t>CBC mode: ciphertext is 32 bytes due padding</a:t>
            </a:r>
          </a:p>
          <a:p>
            <a:r>
              <a:rPr lang="en-US" dirty="0"/>
              <a:t>CFB mode: ciphertext size is same as plaintext size (21 bytes)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22AC10-87D0-43CF-B57C-22ED783E4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712" y="1690688"/>
            <a:ext cx="9235523" cy="2811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768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01D98-7ED1-48E7-9B22-C32D565AB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Feedback (OFB)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244AA-7C6C-42A6-B053-B73DA5A7E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8064" y="1825625"/>
            <a:ext cx="4204666" cy="4351338"/>
          </a:xfrm>
        </p:spPr>
        <p:txBody>
          <a:bodyPr>
            <a:normAutofit/>
          </a:bodyPr>
          <a:lstStyle/>
          <a:p>
            <a:r>
              <a:rPr lang="en-US" sz="2000" dirty="0"/>
              <a:t>Similar to CFB</a:t>
            </a:r>
          </a:p>
          <a:p>
            <a:pPr lvl="1"/>
            <a:r>
              <a:rPr lang="en-US" sz="2000" dirty="0"/>
              <a:t>Used as stream cipher</a:t>
            </a:r>
          </a:p>
          <a:p>
            <a:pPr lvl="1"/>
            <a:r>
              <a:rPr lang="en-US" sz="2000" dirty="0"/>
              <a:t>Does not need padding</a:t>
            </a:r>
          </a:p>
          <a:p>
            <a:pPr lvl="1"/>
            <a:r>
              <a:rPr lang="en-US" sz="2000" dirty="0"/>
              <a:t>Decryption can parallelized</a:t>
            </a:r>
          </a:p>
          <a:p>
            <a:pPr lvl="1"/>
            <a:endParaRPr lang="en-US" sz="2000" dirty="0"/>
          </a:p>
          <a:p>
            <a:r>
              <a:rPr lang="en-US" sz="2000" dirty="0"/>
              <a:t>Encryption in the OFB mode can be parallelized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D03681-72B7-4AA8-9819-33A11ACEA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26632"/>
            <a:ext cx="7029864" cy="5349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032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2F45E-31B0-4385-A156-C291FAD96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Counter (CTR)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42FE5-4D3B-4C62-AE54-6AFFE7683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6660" y="1454564"/>
            <a:ext cx="4886739" cy="4351338"/>
          </a:xfrm>
        </p:spPr>
        <p:txBody>
          <a:bodyPr>
            <a:normAutofit/>
          </a:bodyPr>
          <a:lstStyle/>
          <a:p>
            <a:r>
              <a:rPr lang="en-US" sz="2000" dirty="0"/>
              <a:t>It basically uses a counter to generate the key streams</a:t>
            </a:r>
          </a:p>
          <a:p>
            <a:r>
              <a:rPr lang="en-US" sz="2000" dirty="0"/>
              <a:t>no key stream can be reused, hence the counter value for each block is prepended with a randomly generated value called </a:t>
            </a:r>
            <a:r>
              <a:rPr lang="en-US" sz="2000" i="1" dirty="0"/>
              <a:t>nonce</a:t>
            </a:r>
          </a:p>
          <a:p>
            <a:r>
              <a:rPr lang="en-US" sz="2000" dirty="0"/>
              <a:t>This nonce serves the same role as the IV does to the other encryption modes.</a:t>
            </a:r>
          </a:p>
          <a:p>
            <a:r>
              <a:rPr lang="en-US" sz="2000" dirty="0"/>
              <a:t>both encryption and decryption can be parallelized</a:t>
            </a:r>
          </a:p>
          <a:p>
            <a:r>
              <a:rPr lang="en-US" sz="2000" dirty="0"/>
              <a:t>the key stream in the CTR mode can be calculated in parallel during the encryption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9744D0-481F-4481-B5C2-F8A9A2C5C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314" y="1338470"/>
            <a:ext cx="6235562" cy="5198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320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C277C-8E08-4213-9B45-306862EDD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Modes for Authenticated Encryption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42569-312C-4E2E-A3FC-108EFE03E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None of the Encryption modes discussed so far cannot be used to achieve message authentication</a:t>
            </a:r>
          </a:p>
          <a:p>
            <a:r>
              <a:rPr lang="en-US" dirty="0"/>
              <a:t>A number of modes of operation have been designed to combine message authentication and encryption.</a:t>
            </a:r>
          </a:p>
          <a:p>
            <a:r>
              <a:rPr lang="en-US" dirty="0"/>
              <a:t>Examples include</a:t>
            </a:r>
          </a:p>
          <a:p>
            <a:pPr lvl="1"/>
            <a:r>
              <a:rPr lang="en-US" dirty="0"/>
              <a:t>GCM (Galois/Counter Mode) </a:t>
            </a:r>
          </a:p>
          <a:p>
            <a:pPr lvl="1"/>
            <a:r>
              <a:rPr lang="en-US" dirty="0"/>
              <a:t>CCM (Counter with CBC-MAC)</a:t>
            </a:r>
          </a:p>
          <a:p>
            <a:pPr lvl="1"/>
            <a:r>
              <a:rPr lang="en-US" dirty="0"/>
              <a:t>OCB mode (Offset Codebook Mode)</a:t>
            </a:r>
          </a:p>
        </p:txBody>
      </p:sp>
    </p:spTree>
    <p:extLst>
      <p:ext uri="{BB962C8B-B14F-4D97-AF65-F5344CB8AC3E}">
        <p14:creationId xmlns:p14="http://schemas.microsoft.com/office/powerpoint/2010/main" val="540604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82DD3-4632-4E7B-A1D7-EC71FF88A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Padding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3D224-3978-40AE-948C-7C61B4F06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Block cipher encryption modes divide plaintext into blocks and the size of each block should match the cipher’s block size.</a:t>
            </a:r>
          </a:p>
          <a:p>
            <a:r>
              <a:rPr lang="en-US" dirty="0"/>
              <a:t>No guarantee that the size of the last block matches the cipher’s block size.</a:t>
            </a:r>
          </a:p>
          <a:p>
            <a:r>
              <a:rPr lang="en-US" dirty="0"/>
              <a:t>Last block of the plaintext needs </a:t>
            </a:r>
            <a:r>
              <a:rPr lang="en-US" b="1" dirty="0"/>
              <a:t>padding </a:t>
            </a:r>
            <a:r>
              <a:rPr lang="en-US" dirty="0"/>
              <a:t>i.e. before encryption, extra data needs to be added to the last block of the plaintext, so its size equals to the cipher’s block size.</a:t>
            </a:r>
          </a:p>
          <a:p>
            <a:r>
              <a:rPr lang="en-US" dirty="0"/>
              <a:t>Padding schemes need to clearly mark where the padding starts, so decryption can remove the padded data.</a:t>
            </a:r>
          </a:p>
          <a:p>
            <a:r>
              <a:rPr lang="en-US" dirty="0"/>
              <a:t>Commonly used padding scheme is PKCS#5</a:t>
            </a:r>
          </a:p>
        </p:txBody>
      </p:sp>
    </p:spTree>
    <p:extLst>
      <p:ext uri="{BB962C8B-B14F-4D97-AF65-F5344CB8AC3E}">
        <p14:creationId xmlns:p14="http://schemas.microsoft.com/office/powerpoint/2010/main" val="1779342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82DD3-4632-4E7B-A1D7-EC71FF88A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Padding Experiment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3D224-3978-40AE-948C-7C61B4F06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76999"/>
            <a:ext cx="10515600" cy="1599964"/>
          </a:xfrm>
        </p:spPr>
        <p:txBody>
          <a:bodyPr>
            <a:normAutofit/>
          </a:bodyPr>
          <a:lstStyle/>
          <a:p>
            <a:r>
              <a:rPr lang="en-US" dirty="0"/>
              <a:t>Plaintext size is 9 bytes.</a:t>
            </a:r>
          </a:p>
          <a:p>
            <a:r>
              <a:rPr lang="en-US" dirty="0"/>
              <a:t>Size of ciphertext (</a:t>
            </a:r>
            <a:r>
              <a:rPr lang="en-US" dirty="0" err="1"/>
              <a:t>cipher.bin</a:t>
            </a:r>
            <a:r>
              <a:rPr lang="en-US" dirty="0"/>
              <a:t>) becomes 16 bytes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69D445-78BE-4CE2-B39D-0BC98A936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88897"/>
            <a:ext cx="9670576" cy="3188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425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1051</TotalTime>
  <Words>606</Words>
  <Application>Microsoft Office PowerPoint</Application>
  <PresentationFormat>شاشة عريضة</PresentationFormat>
  <Paragraphs>82</Paragraphs>
  <Slides>15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4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Consolas</vt:lpstr>
      <vt:lpstr>Office Theme</vt:lpstr>
      <vt:lpstr>Secret-Key Encryption</vt:lpstr>
      <vt:lpstr>Advanced Encryption Standard (AES)</vt:lpstr>
      <vt:lpstr>Encryption Modes</vt:lpstr>
      <vt:lpstr>Encryption Modes</vt:lpstr>
      <vt:lpstr>Electronic Codebook (ECB) Mode</vt:lpstr>
      <vt:lpstr>Electronic Codebook (ECB) Mode</vt:lpstr>
      <vt:lpstr>Cipher Block Chaining (CBC) Mode</vt:lpstr>
      <vt:lpstr>Cipher Block Chaining (CBC) Mode</vt:lpstr>
      <vt:lpstr>Cipher Feedback (CFB) Mode</vt:lpstr>
      <vt:lpstr>Comparing encryption with CBC and CFB</vt:lpstr>
      <vt:lpstr>Output Feedback (OFB) Mode</vt:lpstr>
      <vt:lpstr>Counter (CTR) Mode</vt:lpstr>
      <vt:lpstr>Modes for Authenticated Encryption</vt:lpstr>
      <vt:lpstr>Padding</vt:lpstr>
      <vt:lpstr>Padding Experiment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Secret-Key Encryption</dc:title>
  <dc:creator>Francis Akowuah</dc:creator>
  <cp:lastModifiedBy>user</cp:lastModifiedBy>
  <cp:revision>43</cp:revision>
  <dcterms:created xsi:type="dcterms:W3CDTF">2019-01-26T19:59:29Z</dcterms:created>
  <dcterms:modified xsi:type="dcterms:W3CDTF">2025-10-26T21:52:00Z</dcterms:modified>
</cp:coreProperties>
</file>