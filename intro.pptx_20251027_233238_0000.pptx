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18288000" cy="10287000"/>
  <p:notesSz cx="6858000" cy="9144000"/>
  <p:embeddedFontLst>
    <p:embeddedFont>
      <p:font typeface="Arimo" charset="1" panose="020B0604020202020204"/>
      <p:regular r:id="rId55"/>
    </p:embeddedFont>
    <p:embeddedFont>
      <p:font typeface="Arimo Bold" charset="1" panose="020B0704020202020204"/>
      <p:regular r:id="rId60"/>
    </p:embeddedFont>
    <p:embeddedFont>
      <p:font typeface="Open Sans" charset="1" panose="00000000000000000000"/>
      <p:regular r:id="rId61"/>
    </p:embeddedFont>
    <p:embeddedFont>
      <p:font typeface="Calibri (MS)" charset="1" panose="020F0502020204030204"/>
      <p:regular r:id="rId66"/>
    </p:embeddedFont>
    <p:embeddedFont>
      <p:font typeface="Arial" charset="1" panose="020B0604020202020204"/>
      <p:regular r:id="rId72"/>
    </p:embeddedFont>
    <p:embeddedFont>
      <p:font typeface="Centaur" charset="1" panose="02020503050405020304"/>
      <p:regular r:id="rId7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fonts/font55.fntdata" Type="http://schemas.openxmlformats.org/officeDocument/2006/relationships/font"/><Relationship Id="rId56" Target="notesMasters/notesMaster1.xml" Type="http://schemas.openxmlformats.org/officeDocument/2006/relationships/notesMaster"/><Relationship Id="rId57" Target="theme/theme2.xml" Type="http://schemas.openxmlformats.org/officeDocument/2006/relationships/theme"/><Relationship Id="rId58" Target="notesSlides/notesSlide1.xml" Type="http://schemas.openxmlformats.org/officeDocument/2006/relationships/notesSlide"/><Relationship Id="rId59" Target="notesSlides/notesSlide2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notesSlides/notesSlide3.xml" Type="http://schemas.openxmlformats.org/officeDocument/2006/relationships/notesSlide"/><Relationship Id="rId63" Target="notesSlides/notesSlide4.xml" Type="http://schemas.openxmlformats.org/officeDocument/2006/relationships/notesSlide"/><Relationship Id="rId64" Target="notesSlides/notesSlide5.xml" Type="http://schemas.openxmlformats.org/officeDocument/2006/relationships/notesSlide"/><Relationship Id="rId65" Target="notesSlides/notesSlide6.xml" Type="http://schemas.openxmlformats.org/officeDocument/2006/relationships/notesSlide"/><Relationship Id="rId66" Target="fonts/font66.fntdata" Type="http://schemas.openxmlformats.org/officeDocument/2006/relationships/font"/><Relationship Id="rId67" Target="notesSlides/notesSlide7.xml" Type="http://schemas.openxmlformats.org/officeDocument/2006/relationships/notesSlide"/><Relationship Id="rId68" Target="notesSlides/notesSlide8.xml" Type="http://schemas.openxmlformats.org/officeDocument/2006/relationships/notesSlide"/><Relationship Id="rId69" Target="notesSlides/notesSlide9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0.xml" Type="http://schemas.openxmlformats.org/officeDocument/2006/relationships/notesSlide"/><Relationship Id="rId71" Target="notesSlides/notesSlide11.xml" Type="http://schemas.openxmlformats.org/officeDocument/2006/relationships/notesSlide"/><Relationship Id="rId72" Target="fonts/font72.fntdata" Type="http://schemas.openxmlformats.org/officeDocument/2006/relationships/font"/><Relationship Id="rId73" Target="notesSlides/notesSlide12.xml" Type="http://schemas.openxmlformats.org/officeDocument/2006/relationships/notesSlide"/><Relationship Id="rId74" Target="notesSlides/notesSlide13.xml" Type="http://schemas.openxmlformats.org/officeDocument/2006/relationships/notesSlide"/><Relationship Id="rId75" Target="notesSlides/notesSlide14.xml" Type="http://schemas.openxmlformats.org/officeDocument/2006/relationships/notesSlide"/><Relationship Id="rId76" Target="notesSlides/notesSlide15.xml" Type="http://schemas.openxmlformats.org/officeDocument/2006/relationships/notesSlide"/><Relationship Id="rId77" Target="notesSlides/notesSlide16.xml" Type="http://schemas.openxmlformats.org/officeDocument/2006/relationships/notesSlide"/><Relationship Id="rId78" Target="notesSlides/notesSlide17.xml" Type="http://schemas.openxmlformats.org/officeDocument/2006/relationships/notesSlide"/><Relationship Id="rId79" Target="fonts/font79.fntdata" Type="http://schemas.openxmlformats.org/officeDocument/2006/relationships/font"/><Relationship Id="rId8" Target="slides/slide3.xml" Type="http://schemas.openxmlformats.org/officeDocument/2006/relationships/slide"/><Relationship Id="rId80" Target="notesSlides/notesSlide18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Asset protection involves:</a:t>
            </a:r>
          </a:p>
          <a:p>
            <a:r>
              <a:rPr lang="en-US"/>
              <a:t>Prevention.</a:t>
            </a:r>
          </a:p>
          <a:p>
            <a:r>
              <a:rPr lang="en-US"/>
              <a:t>Detection. </a:t>
            </a:r>
          </a:p>
          <a:p>
            <a:r>
              <a:rPr lang="en-US"/>
              <a:t>Reaction.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Network Level</a:t>
            </a:r>
          </a:p>
          <a:p>
            <a:r>
              <a:rPr lang="en-US"/>
              <a:t>Firewalls (allow packets through based on rules such as origin, type, size, port)</a:t>
            </a:r>
          </a:p>
          <a:p>
            <a:r>
              <a:rPr lang="en-US"/>
              <a:t>Smart router software that can detect denial of service attempts and even check the content of packets looking for known malware patterns</a:t>
            </a:r>
          </a:p>
          <a:p>
            <a:r>
              <a:rPr lang="en-US"/>
              <a:t>Implementation of protocols such as IPsec (at the network layer), SSL (at transport layer), secure ethernet and wireless security (at link layer), and PGP and friends (at application layer).</a:t>
            </a:r>
          </a:p>
          <a:p>
            <a:r>
              <a:rPr lang="en-US"/>
              <a:t>Use of VPNs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مخبر ووكالة غير تنظيمية تابعة لوزارة الدفاع الأمريكية</a:t>
            </a:r>
          </a:p>
          <a:p>
            <a:r>
              <a:rPr lang="en-US"/>
              <a:t>هدفه تعزيز الابتكار والقدرة التنافسية الصناعية .</a:t>
            </a:r>
          </a:p>
          <a:p>
            <a:r>
              <a:rPr lang="en-US"/>
              <a:t>يشمل العديد من المجالات مع الجانب المعلوماتي.</a:t>
            </a:r>
          </a:p>
          <a:p>
            <a:r>
              <a:rPr lang="en-US"/>
              <a:t/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منظمة غير ربحية تهدف لزيادة أمن التطبيقات البرمجية.</a:t>
            </a:r>
          </a:p>
          <a:p>
            <a:r>
              <a:rPr lang="en-US"/>
              <a:t>من خلال مشاريع برمجية مفتوحة المصدر مقادة من قبل المجتمع</a:t>
            </a:r>
          </a:p>
          <a:p>
            <a:r>
              <a:rPr lang="en-US"/>
              <a:t>المصدر الاساسي للمطورين والمبرمجين لتأمين الويب.</a:t>
            </a:r>
          </a:p>
          <a:p>
            <a:r>
              <a:rPr lang="en-US"/>
              <a:t>توفر</a:t>
            </a:r>
          </a:p>
          <a:p>
            <a:r>
              <a:rPr lang="en-US"/>
              <a:t>أدوات وموارد</a:t>
            </a:r>
          </a:p>
          <a:p>
            <a:r>
              <a:rPr lang="en-US"/>
              <a:t>مجتمع للتعاون وشبكة للتواصل</a:t>
            </a:r>
          </a:p>
          <a:p>
            <a:r>
              <a:rPr lang="en-US"/>
              <a:t>تعليم وتدريب</a:t>
            </a:r>
          </a:p>
          <a:p>
            <a:r>
              <a:rPr lang="en-US"/>
              <a:t/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منظمة غير ربحية</a:t>
            </a:r>
          </a:p>
          <a:p>
            <a:r>
              <a:rPr lang="en-US"/>
              <a:t>تظم محترفيين دوليين في الأمن السيبراني هدفهم تعزيز القدرات الفردية, ادراة المخاطر الالكترونية، حماية المعلومات الهامة والبنى التحتية</a:t>
            </a:r>
          </a:p>
          <a:p>
            <a:r>
              <a:rPr lang="en-US"/>
              <a:t>توفر منتديات تعليمية ومنشورات وفرص تفاعل بين الأعضاء  التي تعزز المعرفة والمهارة والنمو المهني لأعضائها</a:t>
            </a:r>
          </a:p>
          <a:p>
            <a:r>
              <a:rPr lang="en-US"/>
              <a:t/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نطبق ما نحتاجه فقط لأن الأمن مكلف ماديا وعلى صعيد الأداء يسبب البطء.</a:t>
            </a:r>
          </a:p>
          <a:p>
            <a:r>
              <a:rPr lang="en-US"/>
              <a:t>مثال:</a:t>
            </a:r>
          </a:p>
          <a:p>
            <a:r>
              <a:rPr lang="en-US"/>
              <a:t>مكتب رئاسة جامعة يربط مجموعة من الجامعات سويا</a:t>
            </a:r>
          </a:p>
          <a:p>
            <a:r>
              <a:rPr lang="en-US"/>
              <a:t>يستلم من الجامعات درجات الطلاب بعد صدورها واطلاع الطلاب عليها في جامعاتهم</a:t>
            </a:r>
          </a:p>
          <a:p>
            <a:r>
              <a:rPr lang="en-US"/>
              <a:t>اثناء ارسال الدرجات لا يهم السرية لان الطالب اطلع على درجته لكن من المهم السلامة لضمان عدم تعديل الدرجات.</a:t>
            </a:r>
          </a:p>
          <a:p>
            <a:r>
              <a:rPr lang="en-US"/>
              <a:t/>
            </a:r>
          </a:p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تطوير فهم عام عند المؤسسة لانظمتها ومعداتها وبياناتها وامكانياتها المتاحة في ادارة المخاطر.</a:t>
            </a:r>
          </a:p>
          <a:p>
            <a:r>
              <a:rPr lang="en-US"/>
              <a:t>تحديد البيانات والمعدات الحرجة</a:t>
            </a:r>
          </a:p>
          <a:p>
            <a:r>
              <a:rPr lang="en-US"/>
              <a:t>تحديد الإمكانات من كوادر مؤهلة </a:t>
            </a:r>
          </a:p>
          <a:p>
            <a:r>
              <a:rPr lang="en-US"/>
              <a:t>وامكانات مادية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تطوير وتطبيق الضمان الأمني المناسب.</a:t>
            </a:r>
          </a:p>
          <a:p>
            <a:r>
              <a:rPr lang="en-US"/>
              <a:t>السياسات والاجراءات الأمنية المناسبة لمتطلبات الأمن في المرحلة السابقة.</a:t>
            </a:r>
          </a:p>
          <a:p>
            <a:r>
              <a:rPr lang="en-US"/>
              <a:t/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تطوير وتطبيق الآليات المناسبة لضمان كشف الهجوم عند حدوثه.</a:t>
            </a:r>
          </a:p>
          <a:p>
            <a:r>
              <a:rPr lang="en-US"/>
              <a:t>يساعد في تحديد وتطبيق الحلول عن عند حدوث الخطر.</a:t>
            </a:r>
          </a:p>
          <a:p>
            <a:r>
              <a:rPr lang="en-US"/>
              <a:t>التأخر في اكتشاف الهجوم يزيد الأضرار.</a:t>
            </a:r>
          </a:p>
          <a:p>
            <a:r>
              <a:rPr lang="en-US"/>
              <a:t/>
            </a:r>
          </a:p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تطوير وتطبيق الآليات المناسبة لاتخاذ الاجراء الأمثل عند حدوث الهجوم الأمني.</a:t>
            </a:r>
          </a:p>
          <a:p>
            <a:r>
              <a:rPr lang="en-US"/>
              <a:t>تقليل الأثر الناتج عن الهجوم لاقصى حد.</a:t>
            </a:r>
          </a:p>
          <a:p>
            <a:r>
              <a:rPr lang="en-US"/>
              <a:t/>
            </a:r>
          </a:p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تطوير وتطبيق الآليات المناسبة للإصلاح واستعادة الخدمات المتضررة بشكل مرن لا يؤثر على عمل المؤسسة.</a:t>
            </a:r>
          </a:p>
          <a:p>
            <a:r>
              <a:rPr lang="en-US"/>
              <a:t/>
            </a:r>
          </a:p>
          <a:p>
            <a:r>
              <a:rPr lang="en-US"/>
              <a:t>32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هدف المال</a:t>
            </a:r>
          </a:p>
          <a:p>
            <a:r>
              <a:rPr lang="en-US"/>
              <a:t>يشكلون نسبة 81% من القراصنة وفق الدراسات</a:t>
            </a:r>
          </a:p>
          <a:p>
            <a:r>
              <a:rPr lang="en-US"/>
              <a:t>هدف الشهرة</a:t>
            </a:r>
          </a:p>
          <a:p>
            <a:r>
              <a:rPr lang="en-US"/>
              <a:t>مخترقون هواة</a:t>
            </a:r>
          </a:p>
          <a:p>
            <a:r>
              <a:rPr lang="en-US"/>
              <a:t>مختصين بأمن المعلومات</a:t>
            </a:r>
          </a:p>
          <a:p>
            <a:r>
              <a:rPr lang="en-US"/>
              <a:t>هدف الفضول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38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أهداف سياسية</a:t>
            </a:r>
          </a:p>
          <a:p>
            <a:r>
              <a:rPr lang="en-US"/>
              <a:t>القرصنة التي ترعاها الدولة( تجسس وطني، تخريب)</a:t>
            </a:r>
          </a:p>
          <a:p>
            <a:r>
              <a:rPr lang="en-US"/>
              <a:t>اهداف ارهابية</a:t>
            </a:r>
          </a:p>
          <a:p>
            <a:r>
              <a:rPr lang="en-US"/>
              <a:t>من الداخل</a:t>
            </a:r>
          </a:p>
          <a:p>
            <a:r>
              <a:rPr lang="en-US"/>
              <a:t>موظفون سابقون يسعون للانتقام</a:t>
            </a:r>
          </a:p>
          <a:p>
            <a:r>
              <a:rPr lang="en-US"/>
              <a:t>شركات منافسة تجند موظفين بغرض السرقة أو التخريب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39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القراصنة الاخلاقيون ethical hackers</a:t>
            </a:r>
          </a:p>
          <a:p>
            <a:r>
              <a:rPr lang="en-US"/>
              <a:t>هدفهم اكتشاف الثغرات للمساعدة في اصلاحها، ودفع الخطر من القراصنة الخبيثين.</a:t>
            </a:r>
          </a:p>
          <a:p>
            <a:r>
              <a:rPr lang="en-US"/>
              <a:t>يتم توظيفهم من قبل المؤسسات لتعزيز الأمن</a:t>
            </a:r>
          </a:p>
          <a:p>
            <a:r>
              <a:rPr lang="en-US"/>
              <a:t>لا ينشرون الثغرات المكتشفة قبل ان يتم اصلاحها.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41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يعرفون باسم cracker، يقومون باعمال خبيثة، بغرض السرقة، بيع البيانات أو التخريب لأغراض شخصية</a:t>
            </a:r>
          </a:p>
          <a:p>
            <a:r>
              <a:rPr lang="en-US"/>
              <a:t>يقومون بتطوير أدواتهم الخاصة</a:t>
            </a:r>
          </a:p>
          <a:p>
            <a:r>
              <a:rPr lang="en-US"/>
              <a:t>يصعب جدا اكتشاف اختراقاتهم لأنهم يمتلكون معرفة عظيمة</a:t>
            </a:r>
          </a:p>
          <a:p>
            <a:r>
              <a:rPr lang="en-US"/>
              <a:t>يستطيعون تنفيذ الهجومات الغير تخريبية دون ترك أثر </a:t>
            </a:r>
          </a:p>
          <a:p>
            <a:r>
              <a:rPr lang="en-US"/>
              <a:t>أفعالهم غير قانونية وتؤدي للاعتقال والسجن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42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الاختراق بغرض المرح أو الفضول.</a:t>
            </a:r>
          </a:p>
          <a:p>
            <a:r>
              <a:rPr lang="en-US"/>
              <a:t> قد تؤي أفعالهم للتخريب أو الاصلاح. </a:t>
            </a:r>
          </a:p>
          <a:p>
            <a:r>
              <a:rPr lang="en-US"/>
              <a:t>ليس لهم منافع فردية لكنه يبقى غير قانوني</a:t>
            </a:r>
          </a:p>
          <a:p>
            <a:r>
              <a:rPr lang="en-US"/>
              <a:t/>
            </a:r>
          </a:p>
          <a:p>
            <a:r>
              <a:rPr lang="en-US"/>
              <a:t>43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القراصنة المبتدئون يعرفون أيضا باسم اطفال المخطوطات Script kiddies </a:t>
            </a:r>
          </a:p>
          <a:p>
            <a:r>
              <a:rPr lang="en-US"/>
              <a:t>يستخدمون برامج وآليات مكتوبة ومعدة سابقا .</a:t>
            </a:r>
          </a:p>
          <a:p>
            <a:r>
              <a:rPr lang="en-US"/>
              <a:t>يتعلمون الاختراق من خلال مواقع الانترنت والدورات التعليمية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44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يستخدمون الاختراق كقوة اجتماعية لأغراض شخصية</a:t>
            </a:r>
          </a:p>
          <a:p>
            <a:r>
              <a:rPr lang="en-US"/>
              <a:t>الاختراق الانتقامي</a:t>
            </a:r>
          </a:p>
          <a:p>
            <a:r>
              <a:rPr lang="en-US"/>
              <a:t>تشويه سمعة اشخاص مثلا، سرقة معطيات، تخريب ...الخ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46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6" id="6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457577" cy="10287002"/>
          </a:xfrm>
          <a:custGeom>
            <a:avLst/>
            <a:gdLst/>
            <a:ahLst/>
            <a:cxnLst/>
            <a:rect r="r" b="b" t="t" l="l"/>
            <a:pathLst>
              <a:path h="10287002" w="3457577">
                <a:moveTo>
                  <a:pt x="0" y="0"/>
                </a:moveTo>
                <a:lnTo>
                  <a:pt x="3457577" y="0"/>
                </a:lnTo>
                <a:lnTo>
                  <a:pt x="3457577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814636" y="1683544"/>
            <a:ext cx="13187362" cy="3581400"/>
            <a:chOff x="0" y="0"/>
            <a:chExt cx="17583150" cy="477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8315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7583150">
                  <a:moveTo>
                    <a:pt x="0" y="0"/>
                  </a:moveTo>
                  <a:lnTo>
                    <a:pt x="17583150" y="0"/>
                  </a:lnTo>
                  <a:lnTo>
                    <a:pt x="1758315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17583150" cy="47180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6"/>
                </a:lnSpc>
              </a:pPr>
              <a:r>
                <a:rPr lang="en-US" sz="7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Cybersecurity basics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0482" y="1151964"/>
            <a:ext cx="14420792" cy="1621407"/>
            <a:chOff x="0" y="0"/>
            <a:chExt cx="19227722" cy="2161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27722" cy="2161876"/>
            </a:xfrm>
            <a:custGeom>
              <a:avLst/>
              <a:gdLst/>
              <a:ahLst/>
              <a:cxnLst/>
              <a:rect r="r" b="b" t="t" l="l"/>
              <a:pathLst>
                <a:path h="2161876" w="19227722">
                  <a:moveTo>
                    <a:pt x="0" y="0"/>
                  </a:moveTo>
                  <a:lnTo>
                    <a:pt x="19227722" y="0"/>
                  </a:lnTo>
                  <a:lnTo>
                    <a:pt x="19227722" y="2161876"/>
                  </a:lnTo>
                  <a:lnTo>
                    <a:pt x="0" y="2161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227722" cy="213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outlines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2819091"/>
            <a:ext cx="14676118" cy="675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455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Intro</a:t>
            </a:r>
          </a:p>
          <a:p>
            <a:pPr algn="l" marL="1160859" indent="-386953" lvl="2">
              <a:lnSpc>
                <a:spcPts val="3024"/>
              </a:lnSpc>
              <a:buFont typeface="Arial"/>
              <a:buChar char="⚬"/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Key Milestones in the Evolution of Cybersecurity</a:t>
            </a:r>
          </a:p>
          <a:p>
            <a:pPr algn="l" marL="1160859" indent="-386953" lvl="2">
              <a:lnSpc>
                <a:spcPts val="3024"/>
              </a:lnSpc>
              <a:buFont typeface="Arial"/>
              <a:buChar char="⚬"/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Definition of Terms</a:t>
            </a:r>
          </a:p>
          <a:p>
            <a:pPr algn="l" marL="1160859" indent="-386953" lvl="2">
              <a:lnSpc>
                <a:spcPts val="3024"/>
              </a:lnSpc>
              <a:buFont typeface="Arial"/>
              <a:buChar char="⚬"/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Security Levels</a:t>
            </a:r>
          </a:p>
          <a:p>
            <a:pPr algn="l" marL="1160859" indent="-386953" lvl="2">
              <a:lnSpc>
                <a:spcPts val="3024"/>
              </a:lnSpc>
              <a:buFont typeface="Arial"/>
              <a:buChar char="⚬"/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Assets</a:t>
            </a:r>
          </a:p>
          <a:p>
            <a:pPr algn="l" marL="1160859" indent="-386953" lvl="2">
              <a:lnSpc>
                <a:spcPts val="3024"/>
              </a:lnSpc>
              <a:buFont typeface="Arial"/>
              <a:buChar char="⚬"/>
            </a:pPr>
            <a:r>
              <a:rPr lang="en-US" sz="2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Organizations and projects in cybersecurity</a:t>
            </a:r>
          </a:p>
          <a:p>
            <a:pPr algn="l" marL="542925" indent="-271462" lvl="1">
              <a:lnSpc>
                <a:spcPts val="3455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Security Attributes</a:t>
            </a:r>
          </a:p>
          <a:p>
            <a:pPr algn="l" marL="542925" indent="-271462" lvl="1">
              <a:lnSpc>
                <a:spcPts val="3455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Security process</a:t>
            </a:r>
          </a:p>
          <a:p>
            <a:pPr algn="l" marL="542925" indent="-271462" lvl="1">
              <a:lnSpc>
                <a:spcPts val="3455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Malware</a:t>
            </a:r>
          </a:p>
          <a:p>
            <a:pPr algn="l" marL="542925" indent="-271462" lvl="1">
              <a:lnSpc>
                <a:spcPts val="3455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Attacks</a:t>
            </a:r>
          </a:p>
          <a:p>
            <a:pPr algn="l" marL="542925" indent="-271462" lvl="1">
              <a:lnSpc>
                <a:spcPts val="3455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Hackers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impact  of 9/11/2001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34044" y="3551030"/>
            <a:ext cx="14237912" cy="530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3088" indent="-351544" lvl="1">
              <a:lnSpc>
                <a:spcPts val="4475"/>
              </a:lnSpc>
              <a:buFont typeface="Arial"/>
              <a:buChar char="•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Security Reminder</a:t>
            </a:r>
          </a:p>
          <a:p>
            <a:pPr algn="l" marL="703088" indent="-351544" lvl="1">
              <a:lnSpc>
                <a:spcPts val="4475"/>
              </a:lnSpc>
              <a:buFont typeface="Arial"/>
              <a:buChar char="•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Attackers used the network and the dark web</a:t>
            </a:r>
          </a:p>
          <a:p>
            <a:pPr algn="l" marL="703088" indent="-351544" lvl="1">
              <a:lnSpc>
                <a:spcPts val="4475"/>
              </a:lnSpc>
              <a:buFont typeface="Arial"/>
              <a:buChar char="•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Chaos increased and hackers launched many attacks via email, defamation or denial of service</a:t>
            </a:r>
          </a:p>
          <a:p>
            <a:pPr algn="l" marL="703088" indent="-351544" lvl="1">
              <a:lnSpc>
                <a:spcPts val="4475"/>
              </a:lnSpc>
              <a:buFont typeface="Arial"/>
              <a:buChar char="•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Security was considered an isolated technical problem before this stage</a:t>
            </a:r>
          </a:p>
          <a:p>
            <a:pPr algn="l" marL="703088" indent="-351544" lvl="1">
              <a:lnSpc>
                <a:spcPts val="4475"/>
              </a:lnSpc>
              <a:buFont typeface="Arial"/>
              <a:buChar char="•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Enacting laws and taking preventive measures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0482" y="1151964"/>
            <a:ext cx="14420792" cy="1621407"/>
            <a:chOff x="0" y="0"/>
            <a:chExt cx="19227722" cy="2161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27722" cy="2161876"/>
            </a:xfrm>
            <a:custGeom>
              <a:avLst/>
              <a:gdLst/>
              <a:ahLst/>
              <a:cxnLst/>
              <a:rect r="r" b="b" t="t" l="l"/>
              <a:pathLst>
                <a:path h="2161876" w="19227722">
                  <a:moveTo>
                    <a:pt x="0" y="0"/>
                  </a:moveTo>
                  <a:lnTo>
                    <a:pt x="19227722" y="0"/>
                  </a:lnTo>
                  <a:lnTo>
                    <a:pt x="19227722" y="2161876"/>
                  </a:lnTo>
                  <a:lnTo>
                    <a:pt x="0" y="2161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227722" cy="213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Corona effect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11921" y="3516002"/>
            <a:ext cx="14237912" cy="536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443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More from the virtual world</a:t>
            </a:r>
          </a:p>
          <a:p>
            <a:pPr algn="l" marL="760095" indent="-380048" lvl="1">
              <a:lnSpc>
                <a:spcPts val="5443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Phishing</a:t>
            </a:r>
          </a:p>
          <a:p>
            <a:pPr algn="l" marL="760095" indent="-380048" lvl="1">
              <a:lnSpc>
                <a:spcPts val="5443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Home networks are not protected and users do not run security software on their computers</a:t>
            </a:r>
          </a:p>
          <a:p>
            <a:pPr algn="l" marL="760095" indent="-380048" lvl="1">
              <a:lnSpc>
                <a:spcPts val="5443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Ransomware attacks</a:t>
            </a:r>
          </a:p>
          <a:p>
            <a:pPr algn="l" marL="760095" indent="-380048" lvl="1">
              <a:lnSpc>
                <a:spcPts val="5443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Training and awareness have increased.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Artificial Intelligence as a Threat Factor in Information Security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419950"/>
            <a:ext cx="14676118" cy="522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7286" indent="-382429" lvl="2">
              <a:lnSpc>
                <a:spcPts val="2937"/>
              </a:lnSpc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Artificial Intelligence (AI) has significantly expanded and intensified the cyber threat landscape through automation, personalization, and self-learning capabilities.</a:t>
            </a:r>
          </a:p>
          <a:p>
            <a:pPr algn="l" marL="1147286" indent="-382429" lvl="2">
              <a:lnSpc>
                <a:spcPts val="2937"/>
              </a:lnSpc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Key Threats:</a:t>
            </a:r>
          </a:p>
          <a:p>
            <a:pPr algn="l" marL="1147286" indent="-382429" lvl="2">
              <a:lnSpc>
                <a:spcPts val="2937"/>
              </a:lnSpc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Intelligent Phishing and Social Engineering: AI generates personalized and highly convincing messages.</a:t>
            </a:r>
          </a:p>
          <a:p>
            <a:pPr algn="l" marL="1147286" indent="-382429" lvl="2">
              <a:lnSpc>
                <a:spcPts val="2937"/>
              </a:lnSpc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AI-Driven Malware: Automated generation and optimization of exploit codes.</a:t>
            </a:r>
          </a:p>
          <a:p>
            <a:pPr algn="l" marL="1147286" indent="-382429" lvl="2">
              <a:lnSpc>
                <a:spcPts val="2937"/>
              </a:lnSpc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Deepfakes: Used to breach trust, manipulate identities, and conduct fraud.</a:t>
            </a:r>
          </a:p>
          <a:p>
            <a:pPr algn="l" marL="1147286" indent="-382429" lvl="2">
              <a:lnSpc>
                <a:spcPts val="2937"/>
              </a:lnSpc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Adversarial and Data Poisoning Attacks: Targeting AI models themselves to disrupt or deceive detection systems.</a:t>
            </a:r>
          </a:p>
          <a:p>
            <a:pPr algn="l" marL="1147286" indent="-382429" lvl="2">
              <a:lnSpc>
                <a:spcPts val="2937"/>
              </a:lnSpc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According to Microsoft (2024) and ENISA (2024), AI has become a force multiplier for attackers in modern cybersecurity.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Artificial Intelligence as a Tool for Defense and Protection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410425"/>
            <a:ext cx="14676118" cy="523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057" indent="-228028" lvl="1">
              <a:lnSpc>
                <a:spcPts val="2903"/>
              </a:lnSpc>
              <a:buFont typeface="Arial"/>
              <a:buChar char="•"/>
            </a:pPr>
            <a:r>
              <a:rPr lang="en-US" sz="25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AI is increasingly used to enhance predictive threat detection and automated incident response.</a:t>
            </a:r>
          </a:p>
          <a:p>
            <a:pPr algn="l" marL="456057" indent="-228028" lvl="1">
              <a:lnSpc>
                <a:spcPts val="2903"/>
              </a:lnSpc>
              <a:buFont typeface="Arial"/>
              <a:buChar char="•"/>
            </a:pPr>
            <a:r>
              <a:rPr lang="en-US" sz="25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Main Applications:</a:t>
            </a:r>
          </a:p>
          <a:p>
            <a:pPr algn="l" marL="456057" indent="-228028" lvl="1">
              <a:lnSpc>
                <a:spcPts val="2903"/>
              </a:lnSpc>
              <a:buFont typeface="Arial"/>
              <a:buChar char="•"/>
            </a:pPr>
            <a:r>
              <a:rPr lang="en-US" sz="25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Behavioral Analysis and Early Anomaly Detection: Identifying irregular activity across networks and data systems.</a:t>
            </a:r>
          </a:p>
          <a:p>
            <a:pPr algn="l" marL="456057" indent="-228028" lvl="1">
              <a:lnSpc>
                <a:spcPts val="2903"/>
              </a:lnSpc>
              <a:buFont typeface="Arial"/>
              <a:buChar char="•"/>
            </a:pPr>
            <a:r>
              <a:rPr lang="en-US" sz="25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Automated Response (SOAR): Reduces incident response time and human error.</a:t>
            </a:r>
          </a:p>
          <a:p>
            <a:pPr algn="l" marL="456057" indent="-228028" lvl="1">
              <a:lnSpc>
                <a:spcPts val="2903"/>
              </a:lnSpc>
              <a:buFont typeface="Arial"/>
              <a:buChar char="•"/>
            </a:pPr>
            <a:r>
              <a:rPr lang="en-US" sz="25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Enhanced Phishing and Fraud Detection: Improves accuracy and reduces false positives.</a:t>
            </a:r>
          </a:p>
          <a:p>
            <a:pPr algn="l" marL="456057" indent="-228028" lvl="1">
              <a:lnSpc>
                <a:spcPts val="2903"/>
              </a:lnSpc>
              <a:buFont typeface="Arial"/>
              <a:buChar char="•"/>
            </a:pPr>
            <a:r>
              <a:rPr lang="en-US" sz="25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Continuous Learning: Enables adaptive defense against evolving attacks.</a:t>
            </a:r>
          </a:p>
          <a:p>
            <a:pPr algn="l" marL="456057" indent="-228028" lvl="1">
              <a:lnSpc>
                <a:spcPts val="2903"/>
              </a:lnSpc>
              <a:buFont typeface="Arial"/>
              <a:buChar char="•"/>
            </a:pPr>
            <a:r>
              <a:rPr lang="en-US" sz="25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Based on the NIST AI Risk Management Framework (2024), AI is now a cornerstone of modern cybersecurity defense.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0"/>
            <a:ext cx="18287998" cy="10287000"/>
            <a:chOff x="0" y="0"/>
            <a:chExt cx="24383998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1" t="-124345" r="902" b="-161066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Definition of terms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Cyber: The term is defined as everything related to the Internet or computers in general.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Assets: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Tangible: buildings, people, equipment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Intangible: codes, data, etc.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Protection levels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Hardware level.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Operating system level.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Network level.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Application level.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People level.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77682" y="1512064"/>
            <a:ext cx="16718879" cy="542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Hardware Level</a:t>
            </a:r>
          </a:p>
          <a:p>
            <a:pPr algn="l" marL="1337310" indent="-445770" lvl="2">
              <a:lnSpc>
                <a:spcPts val="518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User and Supervisor (Kernel) modes on processors</a:t>
            </a:r>
          </a:p>
          <a:p>
            <a:pPr algn="l" marL="1337310" indent="-445770" lvl="2">
              <a:lnSpc>
                <a:spcPts val="518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Memory protection (partially implemented in the processor instruction set architecture)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Operating System Level</a:t>
            </a:r>
          </a:p>
          <a:p>
            <a:pPr algn="l" marL="1337310" indent="-445770" lvl="2">
              <a:lnSpc>
                <a:spcPts val="518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O.S. can provide:</a:t>
            </a:r>
          </a:p>
          <a:p>
            <a:pPr algn="l" marL="1337310" indent="-445770" lvl="2">
              <a:lnSpc>
                <a:spcPts val="518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Per-user or per-group protections on files, processes, ports, and devices .</a:t>
            </a:r>
          </a:p>
          <a:p>
            <a:pPr algn="l" marL="1337310" indent="-445770" lvl="2">
              <a:lnSpc>
                <a:spcPts val="518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Encryption of password files 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4373" y="2735566"/>
            <a:ext cx="16353118" cy="532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Network Level</a:t>
            </a:r>
          </a:p>
          <a:p>
            <a:pPr algn="l" marL="1337310" indent="-44577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Firewalls </a:t>
            </a:r>
          </a:p>
          <a:p>
            <a:pPr algn="l" marL="1337310" indent="-44577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Smart router software </a:t>
            </a:r>
          </a:p>
          <a:p>
            <a:pPr algn="l" marL="1337310" indent="-44577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Implementation of protocols such as IPsec (at the network layer), SSL (at transport layer), secure ethernet and wireless security (at link layer), and PGP and friends (at application layer)</a:t>
            </a:r>
          </a:p>
          <a:p>
            <a:pPr algn="l" marL="1337310" indent="-44577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of VPNs</a:t>
            </a:r>
          </a:p>
          <a:p>
            <a:pPr algn="l" marL="1337310" indent="-445770" lvl="2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7805" y="1045704"/>
            <a:ext cx="14676118" cy="532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b="true" sz="36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Application Level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Applications should have security in their design (authentication, authorization, permissions, roles, etc.) and should implement range checks, disallow weak passwords, and handle password-reset properly. They might even expire passwords and support security questions, but these two things are very controversial.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b="true" sz="36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Human Level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 wary about phishing and other personal scams. People can pretend to be someone else (misrepresentation) and just ask you for credentials or even money. These may incidentally use a network but can also happen over other communication channels, including face-to-face.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1597" y="573816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the big questions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37" y="2536130"/>
            <a:ext cx="15016640" cy="662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What needs protection (buildings, people, data, etc.) and they represent the resources we talked about previously (assets)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Why do we want protection (to achieve confidentiality, integrity, etc.) 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 we protect from (physical attack, data theft) and they represent the types of threats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How do we protect (using encryption, building strong buildings, etc.) and they are the security measures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Organizations and projects in cybersecurity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0947" y="3885953"/>
            <a:ext cx="14845085" cy="513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National Institute of Standards &amp; Technology (NIST) 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Open Web Application Security Project(OWASP)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Information Systems Security Association(ISSA)</a:t>
            </a:r>
          </a:p>
          <a:p>
            <a:pPr algn="l" marL="868680" indent="-434340" lvl="1">
              <a:lnSpc>
                <a:spcPts val="691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National Institute of Standards &amp; Technology (NIST)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Established by the US Senate in 1901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laboratory and non-regulatory agency of the US Department of Defense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Goals to promote innovation and industrial competitiveness.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3528964" y="7561696"/>
            <a:ext cx="4759037" cy="2725304"/>
            <a:chOff x="0" y="0"/>
            <a:chExt cx="6345382" cy="36337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45428" cy="3633724"/>
            </a:xfrm>
            <a:custGeom>
              <a:avLst/>
              <a:gdLst/>
              <a:ahLst/>
              <a:cxnLst/>
              <a:rect r="r" b="b" t="t" l="l"/>
              <a:pathLst>
                <a:path h="3633724" w="6345428">
                  <a:moveTo>
                    <a:pt x="0" y="0"/>
                  </a:moveTo>
                  <a:lnTo>
                    <a:pt x="6345428" y="0"/>
                  </a:lnTo>
                  <a:lnTo>
                    <a:pt x="6345428" y="3633724"/>
                  </a:lnTo>
                  <a:lnTo>
                    <a:pt x="0" y="3633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" r="0" b="-7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93618" y="1303328"/>
            <a:ext cx="14576066" cy="1060446"/>
            <a:chOff x="0" y="0"/>
            <a:chExt cx="19434754" cy="1413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434755" cy="1413928"/>
            </a:xfrm>
            <a:custGeom>
              <a:avLst/>
              <a:gdLst/>
              <a:ahLst/>
              <a:cxnLst/>
              <a:rect r="r" b="b" t="t" l="l"/>
              <a:pathLst>
                <a:path h="1413928" w="19434755">
                  <a:moveTo>
                    <a:pt x="0" y="0"/>
                  </a:moveTo>
                  <a:lnTo>
                    <a:pt x="19434755" y="0"/>
                  </a:lnTo>
                  <a:lnTo>
                    <a:pt x="19434755" y="1413928"/>
                  </a:lnTo>
                  <a:lnTo>
                    <a:pt x="0" y="1413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434754" cy="1375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OWASP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058" y="2304719"/>
            <a:ext cx="14393186" cy="513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non-profit organization that aims to increase the security of software applications.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Through community-driven open source software projects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ultimate resource for developers and programmers to secure the web.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Provides</a:t>
            </a:r>
          </a:p>
          <a:p>
            <a:pPr algn="l" marL="1228725" indent="-409575" lvl="2">
              <a:lnSpc>
                <a:spcPts val="432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Tools and resources</a:t>
            </a:r>
          </a:p>
          <a:p>
            <a:pPr algn="l" marL="1228725" indent="-409575" lvl="2">
              <a:lnSpc>
                <a:spcPts val="432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community for collaboration and a network for communication</a:t>
            </a:r>
          </a:p>
          <a:p>
            <a:pPr algn="l" marL="1228725" indent="-409575" lvl="2">
              <a:lnSpc>
                <a:spcPts val="432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Education and training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927206" y="8517436"/>
            <a:ext cx="5084954" cy="1769564"/>
            <a:chOff x="0" y="0"/>
            <a:chExt cx="6779938" cy="23594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9895" cy="2359406"/>
            </a:xfrm>
            <a:custGeom>
              <a:avLst/>
              <a:gdLst/>
              <a:ahLst/>
              <a:cxnLst/>
              <a:rect r="r" b="b" t="t" l="l"/>
              <a:pathLst>
                <a:path h="2359406" w="6779895">
                  <a:moveTo>
                    <a:pt x="0" y="0"/>
                  </a:moveTo>
                  <a:lnTo>
                    <a:pt x="6779895" y="0"/>
                  </a:lnTo>
                  <a:lnTo>
                    <a:pt x="6779895" y="2359406"/>
                  </a:lnTo>
                  <a:lnTo>
                    <a:pt x="0" y="2359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0482" y="1107720"/>
            <a:ext cx="14420792" cy="1621407"/>
            <a:chOff x="0" y="0"/>
            <a:chExt cx="19227722" cy="2161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27722" cy="2161876"/>
            </a:xfrm>
            <a:custGeom>
              <a:avLst/>
              <a:gdLst/>
              <a:ahLst/>
              <a:cxnLst/>
              <a:rect r="r" b="b" t="t" l="l"/>
              <a:pathLst>
                <a:path h="2161876" w="19227722">
                  <a:moveTo>
                    <a:pt x="0" y="0"/>
                  </a:moveTo>
                  <a:lnTo>
                    <a:pt x="19227722" y="0"/>
                  </a:lnTo>
                  <a:lnTo>
                    <a:pt x="19227722" y="2161876"/>
                  </a:lnTo>
                  <a:lnTo>
                    <a:pt x="0" y="2161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227722" cy="212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ISSA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03272" y="2660547"/>
            <a:ext cx="15390713" cy="514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Non-profit organization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Organizes international cybersecurity professionals whose goal is to enhance individual capabilities, manage cyber risks, and protect critical information and infrastructure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Provides educational forums, publications, and member interaction opportunities that enhance the knowledge, skills, and professional growth of its members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3539020" y="9424218"/>
            <a:ext cx="4748980" cy="862780"/>
            <a:chOff x="0" y="0"/>
            <a:chExt cx="6331974" cy="11503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319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6331966">
                  <a:moveTo>
                    <a:pt x="0" y="0"/>
                  </a:moveTo>
                  <a:lnTo>
                    <a:pt x="6331966" y="0"/>
                  </a:lnTo>
                  <a:lnTo>
                    <a:pt x="63319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445" r="0" b="-28446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6" id="6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457577" cy="10287002"/>
          </a:xfrm>
          <a:custGeom>
            <a:avLst/>
            <a:gdLst/>
            <a:ahLst/>
            <a:cxnLst/>
            <a:rect r="r" b="b" t="t" l="l"/>
            <a:pathLst>
              <a:path h="10287002" w="3457577">
                <a:moveTo>
                  <a:pt x="0" y="0"/>
                </a:moveTo>
                <a:lnTo>
                  <a:pt x="3457577" y="0"/>
                </a:lnTo>
                <a:lnTo>
                  <a:pt x="3457577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814636" y="1683544"/>
            <a:ext cx="13187362" cy="3581400"/>
            <a:chOff x="0" y="0"/>
            <a:chExt cx="17583150" cy="477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8315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7583150">
                  <a:moveTo>
                    <a:pt x="0" y="0"/>
                  </a:moveTo>
                  <a:lnTo>
                    <a:pt x="17583150" y="0"/>
                  </a:lnTo>
                  <a:lnTo>
                    <a:pt x="1758315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17583150" cy="47180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6"/>
                </a:lnSpc>
              </a:pPr>
              <a:r>
                <a:rPr lang="en-US" sz="7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Security Attributes 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-19050"/>
            <a:ext cx="18287998" cy="10287002"/>
            <a:chOff x="0" y="0"/>
            <a:chExt cx="24383998" cy="13716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67" t="0" r="-8167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triad CIA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6912"/>
              </a:lnSpc>
            </a:pPr>
          </a:p>
          <a:p>
            <a:pPr algn="r" rtl="true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confidentiality</a:t>
            </a:r>
            <a:r>
              <a:rPr lang="ar-EG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 </a:t>
            </a:r>
          </a:p>
          <a:p>
            <a:pPr algn="r" rtl="true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Integrity</a:t>
            </a:r>
          </a:p>
          <a:p>
            <a:pPr algn="r" rtl="true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Availability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250076" y="4058316"/>
            <a:ext cx="5641626" cy="5128750"/>
            <a:chOff x="0" y="0"/>
            <a:chExt cx="7522168" cy="68383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22210" cy="6838315"/>
            </a:xfrm>
            <a:custGeom>
              <a:avLst/>
              <a:gdLst/>
              <a:ahLst/>
              <a:cxnLst/>
              <a:rect r="r" b="b" t="t" l="l"/>
              <a:pathLst>
                <a:path h="6838315" w="7522210">
                  <a:moveTo>
                    <a:pt x="0" y="0"/>
                  </a:moveTo>
                  <a:lnTo>
                    <a:pt x="7522210" y="0"/>
                  </a:lnTo>
                  <a:lnTo>
                    <a:pt x="7522210" y="6838315"/>
                  </a:lnTo>
                  <a:lnTo>
                    <a:pt x="0" y="6838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AAA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Authentication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Authorization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Accounting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528440" y="4057389"/>
            <a:ext cx="4794305" cy="3946254"/>
            <a:chOff x="0" y="0"/>
            <a:chExt cx="6392406" cy="5261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92418" cy="5261610"/>
            </a:xfrm>
            <a:custGeom>
              <a:avLst/>
              <a:gdLst/>
              <a:ahLst/>
              <a:cxnLst/>
              <a:rect r="r" b="b" t="t" l="l"/>
              <a:pathLst>
                <a:path h="5261610" w="6392418">
                  <a:moveTo>
                    <a:pt x="0" y="0"/>
                  </a:moveTo>
                  <a:lnTo>
                    <a:pt x="6392418" y="0"/>
                  </a:lnTo>
                  <a:lnTo>
                    <a:pt x="6392418" y="5261610"/>
                  </a:lnTo>
                  <a:lnTo>
                    <a:pt x="0" y="5261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318" t="0" r="-56318" b="-1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Authentication</a:t>
              </a:r>
            </a:p>
            <a:p>
              <a:pPr algn="l">
                <a:lnSpc>
                  <a:spcPts val="712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Confirming the identity of the user that he is indeed the person he claims to be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383738" y="6426792"/>
            <a:ext cx="6950748" cy="3494417"/>
            <a:chOff x="0" y="0"/>
            <a:chExt cx="9267664" cy="4659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67698" cy="4659249"/>
            </a:xfrm>
            <a:custGeom>
              <a:avLst/>
              <a:gdLst/>
              <a:ahLst/>
              <a:cxnLst/>
              <a:rect r="r" b="b" t="t" l="l"/>
              <a:pathLst>
                <a:path h="4659249" w="9267698">
                  <a:moveTo>
                    <a:pt x="0" y="0"/>
                  </a:moveTo>
                  <a:lnTo>
                    <a:pt x="9267698" y="0"/>
                  </a:lnTo>
                  <a:lnTo>
                    <a:pt x="9267698" y="4659249"/>
                  </a:lnTo>
                  <a:lnTo>
                    <a:pt x="0" y="4659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Authorization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7406" y="3690618"/>
            <a:ext cx="15528171" cy="509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8378" indent="-369189" lvl="1">
              <a:lnSpc>
                <a:spcPts val="5287"/>
              </a:lnSpc>
              <a:buFont typeface="Arial"/>
              <a:buChar char="•"/>
            </a:pPr>
            <a:r>
              <a:rPr lang="en-US" sz="40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right level of access that a user can have according to his responsibilities and the role he performs.</a:t>
            </a:r>
          </a:p>
          <a:p>
            <a:pPr algn="l" marL="738378" indent="-369189" lvl="1">
              <a:lnSpc>
                <a:spcPts val="5287"/>
              </a:lnSpc>
              <a:buFont typeface="Arial"/>
              <a:buChar char="•"/>
            </a:pPr>
            <a:r>
              <a:rPr lang="en-US" sz="40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Giving too many and inappropriate permissions opens the way for misuse of the system</a:t>
            </a:r>
          </a:p>
          <a:p>
            <a:pPr algn="l" marL="738378" indent="-369189" lvl="1">
              <a:lnSpc>
                <a:spcPts val="5287"/>
              </a:lnSpc>
              <a:buFont typeface="Arial"/>
              <a:buChar char="•"/>
            </a:pPr>
            <a:r>
              <a:rPr lang="en-US" sz="40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Example:An employee of the human resources department in a company should not see the accounting records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Accounting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Track what users do while using the system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Record only important events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Monitor logs to detect suspicious actions and breaches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051904" y="6902244"/>
            <a:ext cx="6137342" cy="3294415"/>
            <a:chOff x="0" y="0"/>
            <a:chExt cx="8183122" cy="43925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83118" cy="4392549"/>
            </a:xfrm>
            <a:custGeom>
              <a:avLst/>
              <a:gdLst/>
              <a:ahLst/>
              <a:cxnLst/>
              <a:rect r="r" b="b" t="t" l="l"/>
              <a:pathLst>
                <a:path h="4392549" w="8183118">
                  <a:moveTo>
                    <a:pt x="0" y="0"/>
                  </a:moveTo>
                  <a:lnTo>
                    <a:pt x="8183118" y="0"/>
                  </a:lnTo>
                  <a:lnTo>
                    <a:pt x="8183118" y="4392549"/>
                  </a:lnTo>
                  <a:lnTo>
                    <a:pt x="0" y="4392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037" r="0" b="-12037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84050" y="1915993"/>
            <a:ext cx="15332252" cy="2217855"/>
            <a:chOff x="0" y="0"/>
            <a:chExt cx="20443002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43002" cy="2957140"/>
            </a:xfrm>
            <a:custGeom>
              <a:avLst/>
              <a:gdLst/>
              <a:ahLst/>
              <a:cxnLst/>
              <a:rect r="r" b="b" t="t" l="l"/>
              <a:pathLst>
                <a:path h="2957140" w="20443002">
                  <a:moveTo>
                    <a:pt x="0" y="0"/>
                  </a:moveTo>
                  <a:lnTo>
                    <a:pt x="20443002" y="0"/>
                  </a:lnTo>
                  <a:lnTo>
                    <a:pt x="20443002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443002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Do we implement security policies that ensure all standards?</a:t>
              </a: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842016" y="4482286"/>
            <a:ext cx="4515480" cy="4286849"/>
            <a:chOff x="0" y="0"/>
            <a:chExt cx="6020640" cy="57157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20689" cy="5715762"/>
            </a:xfrm>
            <a:custGeom>
              <a:avLst/>
              <a:gdLst/>
              <a:ahLst/>
              <a:cxnLst/>
              <a:rect r="r" b="b" t="t" l="l"/>
              <a:pathLst>
                <a:path h="5715762" w="6020689">
                  <a:moveTo>
                    <a:pt x="0" y="0"/>
                  </a:moveTo>
                  <a:lnTo>
                    <a:pt x="6020689" y="0"/>
                  </a:lnTo>
                  <a:lnTo>
                    <a:pt x="6020689" y="5715762"/>
                  </a:lnTo>
                  <a:lnTo>
                    <a:pt x="0" y="571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03558" y="3315175"/>
            <a:ext cx="14676118" cy="532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Exercise: Describe a scenario in which Authentication and Integrity are required but Confidentiality is not.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18640" y="2062269"/>
            <a:ext cx="14645950" cy="1060446"/>
            <a:chOff x="0" y="0"/>
            <a:chExt cx="19527934" cy="1413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27934" cy="1413928"/>
            </a:xfrm>
            <a:custGeom>
              <a:avLst/>
              <a:gdLst/>
              <a:ahLst/>
              <a:cxnLst/>
              <a:rect r="r" b="b" t="t" l="l"/>
              <a:pathLst>
                <a:path h="1413928" w="19527934">
                  <a:moveTo>
                    <a:pt x="0" y="0"/>
                  </a:moveTo>
                  <a:lnTo>
                    <a:pt x="19527934" y="0"/>
                  </a:lnTo>
                  <a:lnTo>
                    <a:pt x="19527934" y="1413928"/>
                  </a:lnTo>
                  <a:lnTo>
                    <a:pt x="0" y="1413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527934" cy="1385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15"/>
                </a:lnSpc>
              </a:pPr>
              <a:r>
                <a:rPr lang="en-US" sz="594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Security process</a:t>
              </a:r>
            </a:p>
            <a:p>
              <a:pPr algn="l">
                <a:lnSpc>
                  <a:spcPts val="6415"/>
                </a:lnSpc>
              </a:pPr>
            </a:p>
            <a:p>
              <a:pPr algn="l">
                <a:lnSpc>
                  <a:spcPts val="641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419950"/>
            <a:ext cx="14676118" cy="522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8860" indent="-439430" lvl="1">
              <a:lnSpc>
                <a:spcPts val="5594"/>
              </a:lnSpc>
              <a:buFont typeface="Arial"/>
              <a:buChar char="•"/>
            </a:pPr>
            <a:r>
              <a:rPr lang="en-US" sz="485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Contains 5 steps</a:t>
            </a:r>
          </a:p>
          <a:p>
            <a:pPr algn="l" marL="1514439" indent="-504813" lvl="2">
              <a:lnSpc>
                <a:spcPts val="5274"/>
              </a:lnSpc>
              <a:buFont typeface="Arial"/>
              <a:buChar char="⚬"/>
            </a:pPr>
            <a:r>
              <a:rPr lang="en-US" sz="457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</a:t>
            </a:r>
          </a:p>
          <a:p>
            <a:pPr algn="l" marL="1514439" indent="-504813" lvl="2">
              <a:lnSpc>
                <a:spcPts val="5274"/>
              </a:lnSpc>
              <a:buFont typeface="Arial"/>
              <a:buChar char="⚬"/>
            </a:pPr>
            <a:r>
              <a:rPr lang="en-US" sz="457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Protect</a:t>
            </a:r>
          </a:p>
          <a:p>
            <a:pPr algn="l" marL="1514439" indent="-504813" lvl="2">
              <a:lnSpc>
                <a:spcPts val="5274"/>
              </a:lnSpc>
              <a:buFont typeface="Arial"/>
              <a:buChar char="⚬"/>
            </a:pPr>
            <a:r>
              <a:rPr lang="en-US" sz="457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Detect</a:t>
            </a:r>
          </a:p>
          <a:p>
            <a:pPr algn="l" marL="1514439" indent="-504813" lvl="2">
              <a:lnSpc>
                <a:spcPts val="5274"/>
              </a:lnSpc>
              <a:buFont typeface="Arial"/>
              <a:buChar char="⚬"/>
            </a:pPr>
            <a:r>
              <a:rPr lang="en-US" sz="457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Response</a:t>
            </a:r>
          </a:p>
          <a:p>
            <a:pPr algn="l" marL="1514439" indent="-504813" lvl="2">
              <a:lnSpc>
                <a:spcPts val="5274"/>
              </a:lnSpc>
              <a:buFont typeface="Arial"/>
              <a:buChar char="⚬"/>
            </a:pPr>
            <a:r>
              <a:rPr lang="en-US" sz="457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Recover 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364641" y="5460336"/>
            <a:ext cx="6538142" cy="4339323"/>
            <a:chOff x="0" y="0"/>
            <a:chExt cx="8717522" cy="57857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17534" cy="5785739"/>
            </a:xfrm>
            <a:custGeom>
              <a:avLst/>
              <a:gdLst/>
              <a:ahLst/>
              <a:cxnLst/>
              <a:rect r="r" b="b" t="t" l="l"/>
              <a:pathLst>
                <a:path h="5785739" w="8717534">
                  <a:moveTo>
                    <a:pt x="0" y="0"/>
                  </a:moveTo>
                  <a:lnTo>
                    <a:pt x="8717534" y="0"/>
                  </a:lnTo>
                  <a:lnTo>
                    <a:pt x="8717534" y="5785739"/>
                  </a:lnTo>
                  <a:lnTo>
                    <a:pt x="0" y="5785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624" r="0" b="-25625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Identify</a:t>
              </a: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524755" y="2743200"/>
            <a:ext cx="13238488" cy="6274070"/>
            <a:chOff x="0" y="0"/>
            <a:chExt cx="17651318" cy="83654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51349" cy="8365363"/>
            </a:xfrm>
            <a:custGeom>
              <a:avLst/>
              <a:gdLst/>
              <a:ahLst/>
              <a:cxnLst/>
              <a:rect r="r" b="b" t="t" l="l"/>
              <a:pathLst>
                <a:path h="8365363" w="17651349">
                  <a:moveTo>
                    <a:pt x="0" y="0"/>
                  </a:moveTo>
                  <a:lnTo>
                    <a:pt x="17651349" y="0"/>
                  </a:lnTo>
                  <a:lnTo>
                    <a:pt x="17651349" y="8365363"/>
                  </a:lnTo>
                  <a:lnTo>
                    <a:pt x="0" y="8365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617" t="0" r="-14617" b="0"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protect</a:t>
              </a: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524755" y="3145632"/>
            <a:ext cx="13238490" cy="6499814"/>
            <a:chOff x="0" y="0"/>
            <a:chExt cx="17651320" cy="86664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51349" cy="8666480"/>
            </a:xfrm>
            <a:custGeom>
              <a:avLst/>
              <a:gdLst/>
              <a:ahLst/>
              <a:cxnLst/>
              <a:rect r="r" b="b" t="t" l="l"/>
              <a:pathLst>
                <a:path h="8666480" w="17651349">
                  <a:moveTo>
                    <a:pt x="0" y="0"/>
                  </a:moveTo>
                  <a:lnTo>
                    <a:pt x="17651349" y="0"/>
                  </a:lnTo>
                  <a:lnTo>
                    <a:pt x="17651349" y="8666480"/>
                  </a:lnTo>
                  <a:lnTo>
                    <a:pt x="0" y="86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020" t="0" r="-16020" b="0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detect</a:t>
              </a: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524756" y="2632587"/>
            <a:ext cx="13238487" cy="6703141"/>
            <a:chOff x="0" y="0"/>
            <a:chExt cx="17651316" cy="89375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51349" cy="8937498"/>
            </a:xfrm>
            <a:custGeom>
              <a:avLst/>
              <a:gdLst/>
              <a:ahLst/>
              <a:cxnLst/>
              <a:rect r="r" b="b" t="t" l="l"/>
              <a:pathLst>
                <a:path h="8937498" w="17651349">
                  <a:moveTo>
                    <a:pt x="0" y="0"/>
                  </a:moveTo>
                  <a:lnTo>
                    <a:pt x="17651349" y="0"/>
                  </a:lnTo>
                  <a:lnTo>
                    <a:pt x="17651349" y="8937498"/>
                  </a:lnTo>
                  <a:lnTo>
                    <a:pt x="0" y="8937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980" t="0" r="-18980" b="0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32431" y="1480380"/>
            <a:ext cx="13142120" cy="1060446"/>
            <a:chOff x="0" y="0"/>
            <a:chExt cx="17522826" cy="1413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22827" cy="1413928"/>
            </a:xfrm>
            <a:custGeom>
              <a:avLst/>
              <a:gdLst/>
              <a:ahLst/>
              <a:cxnLst/>
              <a:rect r="r" b="b" t="t" l="l"/>
              <a:pathLst>
                <a:path h="1413928" w="17522827">
                  <a:moveTo>
                    <a:pt x="0" y="0"/>
                  </a:moveTo>
                  <a:lnTo>
                    <a:pt x="17522827" y="0"/>
                  </a:lnTo>
                  <a:lnTo>
                    <a:pt x="17522827" y="1413928"/>
                  </a:lnTo>
                  <a:lnTo>
                    <a:pt x="0" y="1413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7522826" cy="1375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respond</a:t>
              </a: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524755" y="3362632"/>
            <a:ext cx="13238488" cy="6260690"/>
            <a:chOff x="0" y="0"/>
            <a:chExt cx="17651318" cy="83475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51349" cy="8347583"/>
            </a:xfrm>
            <a:custGeom>
              <a:avLst/>
              <a:gdLst/>
              <a:ahLst/>
              <a:cxnLst/>
              <a:rect r="r" b="b" t="t" l="l"/>
              <a:pathLst>
                <a:path h="8347583" w="17651349">
                  <a:moveTo>
                    <a:pt x="0" y="0"/>
                  </a:moveTo>
                  <a:lnTo>
                    <a:pt x="17651349" y="0"/>
                  </a:lnTo>
                  <a:lnTo>
                    <a:pt x="17651349" y="8347583"/>
                  </a:lnTo>
                  <a:lnTo>
                    <a:pt x="0" y="8347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586" t="0" r="-19585" b="0"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Recover</a:t>
              </a: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12121" y="3451122"/>
            <a:ext cx="14051124" cy="5973098"/>
            <a:chOff x="0" y="0"/>
            <a:chExt cx="18734832" cy="7964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734787" cy="7964170"/>
            </a:xfrm>
            <a:custGeom>
              <a:avLst/>
              <a:gdLst/>
              <a:ahLst/>
              <a:cxnLst/>
              <a:rect r="r" b="b" t="t" l="l"/>
              <a:pathLst>
                <a:path h="7964170" w="18734787">
                  <a:moveTo>
                    <a:pt x="0" y="0"/>
                  </a:moveTo>
                  <a:lnTo>
                    <a:pt x="18734787" y="0"/>
                  </a:lnTo>
                  <a:lnTo>
                    <a:pt x="18734787" y="7964170"/>
                  </a:lnTo>
                  <a:lnTo>
                    <a:pt x="0" y="7964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783" t="0" r="-5783" b="0"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Vulnerability, threat and risk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315175"/>
            <a:ext cx="14676118" cy="532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vulnerability is a weakness or flaw in an operating system, network, or application,  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vulnerabilities can arise for many reasons, including misconfigurations, design flaws, outdated software versions, weak Credentials, malicious Insiders or Phishing-Prone Users</a:t>
            </a:r>
          </a:p>
          <a:p>
            <a:pPr algn="l" marL="651510" indent="-325755" lvl="1">
              <a:lnSpc>
                <a:spcPts val="5184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Vulnerability, threat and risk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315175"/>
            <a:ext cx="14676118" cy="532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threat is a malicious event that takes advantage of a vulnerability and has the potential to damage the asset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virus – worm – ransomware – brute force attack – denial of service - man in the middle - phishing.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Vulnerability, threat and risk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334225"/>
            <a:ext cx="14676118" cy="5306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28725" indent="-409575" lvl="2">
              <a:lnSpc>
                <a:spcPts val="432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Risk is the potential for loss or damage to an organization's assets due to external or internal threat</a:t>
            </a:r>
          </a:p>
          <a:p>
            <a:pPr algn="l" marL="1228725" indent="-409575" lvl="2">
              <a:lnSpc>
                <a:spcPts val="4320"/>
              </a:lnSpc>
            </a:pPr>
          </a:p>
          <a:p>
            <a:pPr algn="l" marL="1228725" indent="-409575" lvl="2">
              <a:lnSpc>
                <a:spcPts val="4320"/>
              </a:lnSpc>
            </a:pP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527378" y="5575550"/>
            <a:ext cx="11617394" cy="3360106"/>
            <a:chOff x="0" y="0"/>
            <a:chExt cx="15489858" cy="44801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489810" cy="4480179"/>
            </a:xfrm>
            <a:custGeom>
              <a:avLst/>
              <a:gdLst/>
              <a:ahLst/>
              <a:cxnLst/>
              <a:rect r="r" b="b" t="t" l="l"/>
              <a:pathLst>
                <a:path h="4480179" w="15489810">
                  <a:moveTo>
                    <a:pt x="0" y="0"/>
                  </a:moveTo>
                  <a:lnTo>
                    <a:pt x="15489810" y="0"/>
                  </a:lnTo>
                  <a:lnTo>
                    <a:pt x="15489810" y="4480179"/>
                  </a:lnTo>
                  <a:lnTo>
                    <a:pt x="0" y="4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0482" y="1107720"/>
            <a:ext cx="14420792" cy="1621407"/>
            <a:chOff x="0" y="0"/>
            <a:chExt cx="19227722" cy="2161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27722" cy="2161876"/>
            </a:xfrm>
            <a:custGeom>
              <a:avLst/>
              <a:gdLst/>
              <a:ahLst/>
              <a:cxnLst/>
              <a:rect r="r" b="b" t="t" l="l"/>
              <a:pathLst>
                <a:path h="2161876" w="19227722">
                  <a:moveTo>
                    <a:pt x="0" y="0"/>
                  </a:moveTo>
                  <a:lnTo>
                    <a:pt x="19227722" y="0"/>
                  </a:lnTo>
                  <a:lnTo>
                    <a:pt x="19227722" y="2161876"/>
                  </a:lnTo>
                  <a:lnTo>
                    <a:pt x="0" y="2161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227722" cy="212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Hackers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11921" y="3439802"/>
            <a:ext cx="14237912" cy="544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Hackers Definition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Hackers Motives 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Hackers Types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Hackers Definition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Anyone who discovers ways to penetrate defenses and exploit vulnerabilities in computer systems and networks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extensive knowledge of hardware and software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934335" y="7275564"/>
            <a:ext cx="5353665" cy="3011436"/>
            <a:chOff x="0" y="0"/>
            <a:chExt cx="7138220" cy="40152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8162" cy="4015232"/>
            </a:xfrm>
            <a:custGeom>
              <a:avLst/>
              <a:gdLst/>
              <a:ahLst/>
              <a:cxnLst/>
              <a:rect r="r" b="b" t="t" l="l"/>
              <a:pathLst>
                <a:path h="4015232" w="7138162">
                  <a:moveTo>
                    <a:pt x="0" y="0"/>
                  </a:moveTo>
                  <a:lnTo>
                    <a:pt x="7138162" y="0"/>
                  </a:lnTo>
                  <a:lnTo>
                    <a:pt x="7138162" y="4015232"/>
                  </a:lnTo>
                  <a:lnTo>
                    <a:pt x="0" y="401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" r="0" b="-26"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Hackers Motives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362800"/>
            <a:ext cx="14676118" cy="527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3529" indent="-401765" lvl="1">
              <a:lnSpc>
                <a:spcPts val="5754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Money Goal</a:t>
            </a:r>
          </a:p>
          <a:p>
            <a:pPr algn="l" marL="1388888" indent="-462963" lvl="2">
              <a:lnSpc>
                <a:spcPts val="5034"/>
              </a:lnSpc>
              <a:buFont typeface="Arial"/>
              <a:buChar char="⚬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81% of hackers according to studies</a:t>
            </a:r>
          </a:p>
          <a:p>
            <a:pPr algn="l" marL="803529" indent="-401765" lvl="1">
              <a:lnSpc>
                <a:spcPts val="5754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Fame Goal</a:t>
            </a:r>
          </a:p>
          <a:p>
            <a:pPr algn="l" marL="1388888" indent="-462963" lvl="2">
              <a:lnSpc>
                <a:spcPts val="5034"/>
              </a:lnSpc>
              <a:buFont typeface="Arial"/>
              <a:buChar char="⚬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Amateur Hackers</a:t>
            </a:r>
          </a:p>
          <a:p>
            <a:pPr algn="l" marL="1388888" indent="-462963" lvl="2">
              <a:lnSpc>
                <a:spcPts val="5034"/>
              </a:lnSpc>
              <a:buFont typeface="Arial"/>
              <a:buChar char="⚬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Information Security Specialists</a:t>
            </a:r>
          </a:p>
          <a:p>
            <a:pPr algn="l" marL="803529" indent="-401765" lvl="1">
              <a:lnSpc>
                <a:spcPts val="5754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Curiosity Goal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03558" y="3305650"/>
            <a:ext cx="14676118" cy="533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3529" indent="-401765" lvl="1">
              <a:lnSpc>
                <a:spcPts val="6393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Political goals</a:t>
            </a:r>
          </a:p>
          <a:p>
            <a:pPr algn="l" marL="1388888" indent="-462963" lvl="2">
              <a:lnSpc>
                <a:spcPts val="5594"/>
              </a:lnSpc>
              <a:buFont typeface="Arial"/>
              <a:buChar char="⚬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State-sponsored hacking (national espionage, sabotage)</a:t>
            </a:r>
          </a:p>
          <a:p>
            <a:pPr algn="l" marL="803529" indent="-401765" lvl="1">
              <a:lnSpc>
                <a:spcPts val="6393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Terrorist goals</a:t>
            </a:r>
          </a:p>
          <a:p>
            <a:pPr algn="l" marL="1288447" indent="-429482" lvl="2">
              <a:lnSpc>
                <a:spcPts val="4795"/>
              </a:lnSpc>
              <a:buFont typeface="Arial"/>
              <a:buChar char="⚬"/>
            </a:pPr>
            <a:r>
              <a:rPr lang="en-US" sz="33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Former employees seeking revenge</a:t>
            </a:r>
          </a:p>
          <a:p>
            <a:pPr algn="l" marL="1388888" indent="-462963" lvl="2">
              <a:lnSpc>
                <a:spcPts val="5594"/>
              </a:lnSpc>
              <a:buFont typeface="Arial"/>
              <a:buChar char="⚬"/>
            </a:pPr>
            <a:r>
              <a:rPr lang="en-US" sz="388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Competitors recruiting employees for theft or sabotage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Hackers Types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60" y="3077052"/>
            <a:ext cx="13055609" cy="514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White Hats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Black Hats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Grey Hats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Green Hats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Red Hats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Blue Hats</a:t>
            </a:r>
          </a:p>
          <a:p>
            <a:pPr algn="l" marL="760095" indent="-380048" lvl="1">
              <a:lnSpc>
                <a:spcPts val="6048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Hacktivists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-10800000">
            <a:off x="9851416" y="3702049"/>
            <a:ext cx="6873253" cy="6075249"/>
            <a:chOff x="0" y="0"/>
            <a:chExt cx="9164338" cy="810033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164320" cy="8100314"/>
            </a:xfrm>
            <a:custGeom>
              <a:avLst/>
              <a:gdLst/>
              <a:ahLst/>
              <a:cxnLst/>
              <a:rect r="r" b="b" t="t" l="l"/>
              <a:pathLst>
                <a:path h="8100314" w="9164320">
                  <a:moveTo>
                    <a:pt x="0" y="8100314"/>
                  </a:moveTo>
                  <a:lnTo>
                    <a:pt x="9164320" y="8100314"/>
                  </a:lnTo>
                  <a:lnTo>
                    <a:pt x="9164320" y="0"/>
                  </a:lnTo>
                  <a:lnTo>
                    <a:pt x="0" y="0"/>
                  </a:lnTo>
                  <a:lnTo>
                    <a:pt x="0" y="8100314"/>
                  </a:lnTo>
                  <a:close/>
                </a:path>
              </a:pathLst>
            </a:custGeom>
            <a:blipFill>
              <a:blip r:embed="rId5"/>
              <a:stretch>
                <a:fillRect l="0" t="-6567" r="0" b="-6567"/>
              </a:stretch>
            </a:blipFill>
          </p:spPr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white hats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362800"/>
            <a:ext cx="14676118" cy="527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3529" indent="-401765" lvl="1">
              <a:lnSpc>
                <a:spcPts val="5754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Ethical hackers</a:t>
            </a:r>
          </a:p>
          <a:p>
            <a:pPr algn="l" marL="803529" indent="-401765" lvl="1">
              <a:lnSpc>
                <a:spcPts val="5754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Their goal is to discover vulnerabilities to help fix them, and to prevent the threat from malicious hackers.</a:t>
            </a:r>
          </a:p>
          <a:p>
            <a:pPr algn="l" marL="803529" indent="-401765" lvl="1">
              <a:lnSpc>
                <a:spcPts val="5754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They are hired by organizations to enhance security</a:t>
            </a:r>
          </a:p>
          <a:p>
            <a:pPr algn="l" marL="803529" indent="-401765" lvl="1">
              <a:lnSpc>
                <a:spcPts val="5754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They do not publish discovered vulnerabilities before they are fixed.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901939" y="7676535"/>
            <a:ext cx="3386061" cy="2610465"/>
            <a:chOff x="0" y="0"/>
            <a:chExt cx="4514748" cy="3480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14723" cy="3480562"/>
            </a:xfrm>
            <a:custGeom>
              <a:avLst/>
              <a:gdLst/>
              <a:ahLst/>
              <a:cxnLst/>
              <a:rect r="r" b="b" t="t" l="l"/>
              <a:pathLst>
                <a:path h="3480562" w="4514723">
                  <a:moveTo>
                    <a:pt x="0" y="0"/>
                  </a:moveTo>
                  <a:lnTo>
                    <a:pt x="4514723" y="0"/>
                  </a:lnTo>
                  <a:lnTo>
                    <a:pt x="4514723" y="3480562"/>
                  </a:lnTo>
                  <a:lnTo>
                    <a:pt x="0" y="3480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9263" t="-136137" r="-442733" b="-143849"/>
              </a:stretch>
            </a:blipFill>
          </p:spPr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0482" y="1151964"/>
            <a:ext cx="14420792" cy="1621407"/>
            <a:chOff x="0" y="0"/>
            <a:chExt cx="19227722" cy="2161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27722" cy="2161876"/>
            </a:xfrm>
            <a:custGeom>
              <a:avLst/>
              <a:gdLst/>
              <a:ahLst/>
              <a:cxnLst/>
              <a:rect r="r" b="b" t="t" l="l"/>
              <a:pathLst>
                <a:path h="2161876" w="19227722">
                  <a:moveTo>
                    <a:pt x="0" y="0"/>
                  </a:moveTo>
                  <a:lnTo>
                    <a:pt x="19227722" y="0"/>
                  </a:lnTo>
                  <a:lnTo>
                    <a:pt x="19227722" y="2161876"/>
                  </a:lnTo>
                  <a:lnTo>
                    <a:pt x="0" y="2161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227722" cy="212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black hats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410425"/>
            <a:ext cx="14676118" cy="523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227" indent="-336614" lvl="1">
              <a:lnSpc>
                <a:spcPts val="4285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Known as cracker, they do malicious acts, with the aim of stealing, selling data or sabotaging for personal purposes</a:t>
            </a:r>
          </a:p>
          <a:p>
            <a:pPr algn="l" marL="673227" indent="-336614" lvl="1">
              <a:lnSpc>
                <a:spcPts val="4285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They develop their own tools</a:t>
            </a:r>
          </a:p>
          <a:p>
            <a:pPr algn="l" marL="673227" indent="-336614" lvl="1">
              <a:lnSpc>
                <a:spcPts val="4285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is difficult to detect their hacks because they have great knowledge</a:t>
            </a:r>
          </a:p>
          <a:p>
            <a:pPr algn="l" marL="673227" indent="-336614" lvl="1">
              <a:lnSpc>
                <a:spcPts val="4285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They can carry out non-sabotage attacks without leaving a trace</a:t>
            </a:r>
          </a:p>
          <a:p>
            <a:pPr algn="l" marL="673227" indent="-336614" lvl="1">
              <a:lnSpc>
                <a:spcPts val="4285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Their actions are illegal and lead to arrest and imprisonment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810272" y="7565922"/>
            <a:ext cx="2477728" cy="2721078"/>
            <a:chOff x="0" y="0"/>
            <a:chExt cx="3303638" cy="3628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03651" cy="3628136"/>
            </a:xfrm>
            <a:custGeom>
              <a:avLst/>
              <a:gdLst/>
              <a:ahLst/>
              <a:cxnLst/>
              <a:rect r="r" b="b" t="t" l="l"/>
              <a:pathLst>
                <a:path h="3628136" w="3303651">
                  <a:moveTo>
                    <a:pt x="0" y="0"/>
                  </a:moveTo>
                  <a:lnTo>
                    <a:pt x="3303651" y="0"/>
                  </a:lnTo>
                  <a:lnTo>
                    <a:pt x="3303651" y="3628136"/>
                  </a:lnTo>
                  <a:lnTo>
                    <a:pt x="0" y="3628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9660" t="-113622" r="-646130" b="-100842"/>
              </a:stretch>
            </a:blipFill>
          </p:spPr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grey hats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55224" y="3817620"/>
            <a:ext cx="13624257" cy="516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Hacking for fun or curiosity.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Their actions may lead to sabotage or reform.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They have no personal benefit but it remains illegal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748387" y="6880122"/>
            <a:ext cx="3539613" cy="3406878"/>
            <a:chOff x="0" y="0"/>
            <a:chExt cx="4719484" cy="45425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19447" cy="4542536"/>
            </a:xfrm>
            <a:custGeom>
              <a:avLst/>
              <a:gdLst/>
              <a:ahLst/>
              <a:cxnLst/>
              <a:rect r="r" b="b" t="t" l="l"/>
              <a:pathLst>
                <a:path h="4542536" w="4719447">
                  <a:moveTo>
                    <a:pt x="0" y="0"/>
                  </a:moveTo>
                  <a:lnTo>
                    <a:pt x="4719447" y="0"/>
                  </a:lnTo>
                  <a:lnTo>
                    <a:pt x="4719447" y="4542536"/>
                  </a:lnTo>
                  <a:lnTo>
                    <a:pt x="0" y="454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1199" t="-111622" r="-351201" b="-97307"/>
              </a:stretch>
            </a:blipFill>
          </p:spPr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green hats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286600"/>
            <a:ext cx="14676118" cy="53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Script kiddies 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They use pre-written and prepared programs and mechanisms.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They learn hacking through websites and educational courses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861891" y="7123472"/>
            <a:ext cx="2426109" cy="3163528"/>
            <a:chOff x="0" y="0"/>
            <a:chExt cx="3234812" cy="42180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34817" cy="4218051"/>
            </a:xfrm>
            <a:custGeom>
              <a:avLst/>
              <a:gdLst/>
              <a:ahLst/>
              <a:cxnLst/>
              <a:rect r="r" b="b" t="t" l="l"/>
              <a:pathLst>
                <a:path h="4218051" w="3234817">
                  <a:moveTo>
                    <a:pt x="0" y="0"/>
                  </a:moveTo>
                  <a:lnTo>
                    <a:pt x="3234817" y="0"/>
                  </a:lnTo>
                  <a:lnTo>
                    <a:pt x="3234817" y="4218051"/>
                  </a:lnTo>
                  <a:lnTo>
                    <a:pt x="0" y="4218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3356" t="-86396" r="-253356" b="-43040"/>
              </a:stretch>
            </a:blipFill>
          </p:spPr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red hats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324700"/>
            <a:ext cx="14676118" cy="531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Centaur"/>
                <a:ea typeface="Centaur"/>
                <a:cs typeface="Centaur"/>
                <a:sym typeface="Centaur"/>
              </a:rPr>
              <a:t>They are similar to white hats but the mechanism is different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Centaur"/>
                <a:ea typeface="Centaur"/>
                <a:cs typeface="Centaur"/>
                <a:sym typeface="Centaur"/>
              </a:rPr>
              <a:t>They look for black hats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Centaur"/>
                <a:ea typeface="Centaur"/>
                <a:cs typeface="Centaur"/>
                <a:sym typeface="Centaur"/>
              </a:rPr>
              <a:t>They do illegal actions towards black hats and massive attacks on them in order to disable their mechanisms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441273" y="7079226"/>
            <a:ext cx="2846727" cy="3207774"/>
            <a:chOff x="0" y="0"/>
            <a:chExt cx="3795636" cy="4277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95649" cy="4276979"/>
            </a:xfrm>
            <a:custGeom>
              <a:avLst/>
              <a:gdLst/>
              <a:ahLst/>
              <a:cxnLst/>
              <a:rect r="r" b="b" t="t" l="l"/>
              <a:pathLst>
                <a:path h="4276979" w="3795649">
                  <a:moveTo>
                    <a:pt x="0" y="0"/>
                  </a:moveTo>
                  <a:lnTo>
                    <a:pt x="3795649" y="0"/>
                  </a:lnTo>
                  <a:lnTo>
                    <a:pt x="3795649" y="4276979"/>
                  </a:lnTo>
                  <a:lnTo>
                    <a:pt x="0" y="427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37374" t="-95934" r="-46290" b="-60912"/>
              </a:stretch>
            </a:blipFill>
          </p:spPr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blue hats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324700"/>
            <a:ext cx="14676118" cy="531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Centaur"/>
                <a:ea typeface="Centaur"/>
                <a:cs typeface="Centaur"/>
                <a:sym typeface="Centaur"/>
              </a:rPr>
              <a:t>They use hacking as a social force for personal purposes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Centaur"/>
                <a:ea typeface="Centaur"/>
                <a:cs typeface="Centaur"/>
                <a:sym typeface="Centaur"/>
              </a:rPr>
              <a:t>Revenge hacking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Centaur"/>
                <a:ea typeface="Centaur"/>
                <a:cs typeface="Centaur"/>
                <a:sym typeface="Centaur"/>
              </a:rPr>
              <a:t>Defaming people for example, stealing data, sabotaging...etc.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970920" y="6522219"/>
            <a:ext cx="3317080" cy="3764781"/>
            <a:chOff x="0" y="0"/>
            <a:chExt cx="4422774" cy="5019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22775" cy="5019675"/>
            </a:xfrm>
            <a:custGeom>
              <a:avLst/>
              <a:gdLst/>
              <a:ahLst/>
              <a:cxnLst/>
              <a:rect r="r" b="b" t="t" l="l"/>
              <a:pathLst>
                <a:path h="5019675" w="4422775">
                  <a:moveTo>
                    <a:pt x="0" y="0"/>
                  </a:moveTo>
                  <a:lnTo>
                    <a:pt x="4422775" y="0"/>
                  </a:lnTo>
                  <a:lnTo>
                    <a:pt x="4422775" y="5019675"/>
                  </a:lnTo>
                  <a:lnTo>
                    <a:pt x="0" y="501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79940" t="-102965" r="-165216" b="-74973"/>
              </a:stretch>
            </a:blipFill>
          </p:spPr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811996" cy="291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Hacktivists 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4788" y="3817620"/>
            <a:ext cx="14544692" cy="516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They use hacking to draw public opinion towards various issues.</a:t>
            </a:r>
          </a:p>
          <a:p>
            <a:pPr algn="l" marL="868680" indent="-434340" lvl="1">
              <a:lnSpc>
                <a:spcPts val="6912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They hack social media such as television, radio or well-known social media sites.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516960" y="6902246"/>
            <a:ext cx="8627040" cy="3384754"/>
            <a:chOff x="0" y="0"/>
            <a:chExt cx="11502720" cy="45130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02771" cy="4512945"/>
            </a:xfrm>
            <a:custGeom>
              <a:avLst/>
              <a:gdLst/>
              <a:ahLst/>
              <a:cxnLst/>
              <a:rect r="r" b="b" t="t" l="l"/>
              <a:pathLst>
                <a:path h="4512945" w="11502771">
                  <a:moveTo>
                    <a:pt x="0" y="0"/>
                  </a:moveTo>
                  <a:lnTo>
                    <a:pt x="11502771" y="0"/>
                  </a:lnTo>
                  <a:lnTo>
                    <a:pt x="11502771" y="4512945"/>
                  </a:lnTo>
                  <a:lnTo>
                    <a:pt x="0" y="4512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63" r="-1493" b="-44721"/>
              </a:stretch>
            </a:blipFill>
          </p:spPr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What Can Attackers Do?</a:t>
              </a:r>
            </a:p>
            <a:p>
              <a:pPr algn="l">
                <a:lnSpc>
                  <a:spcPts val="583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15855" y="2294340"/>
            <a:ext cx="12146004" cy="718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b="true" sz="36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Eavesdrop</a:t>
            </a: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Tap into a communication line and steal information.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b="true" sz="36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Spoof</a:t>
            </a: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Modify data in transit, replace the source IP address, or change purchase shipping address to the attacker’s secret PO Box.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b="true" sz="36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Deny service</a:t>
            </a: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Preventing data from getting to the target (rerouting the packets), or flooding one of the hosts or routers with so many packets nothing effectively gets through.</a:t>
            </a:r>
          </a:p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b="true" sz="36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Break In</a:t>
            </a: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Install a keylogger or other malware on a device that records everything the victim does. 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19050"/>
            <a:ext cx="18288004" cy="10287002"/>
            <a:chOff x="0" y="0"/>
            <a:chExt cx="24384006" cy="13716002"/>
          </a:xfrm>
        </p:grpSpPr>
        <p:sp>
          <p:nvSpPr>
            <p:cNvPr name="Freeform 3" id="3" descr="\\DROBO-FS\QuickDrops\JB\PPTX NG\Droplets\LightingOverlay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2119" y="927777"/>
            <a:ext cx="14858997" cy="2217855"/>
            <a:chOff x="0" y="0"/>
            <a:chExt cx="19811996" cy="295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1995" cy="2957140"/>
            </a:xfrm>
            <a:custGeom>
              <a:avLst/>
              <a:gdLst/>
              <a:ahLst/>
              <a:cxnLst/>
              <a:rect r="r" b="b" t="t" l="l"/>
              <a:pathLst>
                <a:path h="2957140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2957140"/>
                  </a:lnTo>
                  <a:lnTo>
                    <a:pt x="0" y="295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11996" cy="292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Required Framework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3558" y="3315175"/>
            <a:ext cx="14676118" cy="532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https://seedsecuritylabs.org/labsetup.html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DAG3BNPqzMo</dc:identifier>
  <dcterms:modified xsi:type="dcterms:W3CDTF">2011-08-01T06:04:30Z</dcterms:modified>
  <cp:revision>1</cp:revision>
  <dc:title>intro.pptx</dc:title>
</cp:coreProperties>
</file>