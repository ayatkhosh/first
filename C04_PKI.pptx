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8" r:id="rId3"/>
    <p:sldId id="297" r:id="rId4"/>
    <p:sldId id="283" r:id="rId5"/>
    <p:sldId id="300" r:id="rId6"/>
    <p:sldId id="299" r:id="rId7"/>
    <p:sldId id="284" r:id="rId8"/>
    <p:sldId id="286" r:id="rId9"/>
    <p:sldId id="301" r:id="rId10"/>
    <p:sldId id="302" r:id="rId11"/>
    <p:sldId id="287" r:id="rId12"/>
    <p:sldId id="288" r:id="rId13"/>
    <p:sldId id="289" r:id="rId14"/>
    <p:sldId id="303" r:id="rId15"/>
    <p:sldId id="290" r:id="rId16"/>
    <p:sldId id="292" r:id="rId17"/>
    <p:sldId id="293" r:id="rId18"/>
    <p:sldId id="274" r:id="rId19"/>
    <p:sldId id="275" r:id="rId20"/>
    <p:sldId id="276" r:id="rId21"/>
    <p:sldId id="280" r:id="rId22"/>
    <p:sldId id="268" r:id="rId23"/>
    <p:sldId id="281" r:id="rId24"/>
    <p:sldId id="269" r:id="rId25"/>
    <p:sldId id="270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2" autoAdjust="0"/>
    <p:restoredTop sz="83267" autoAdjust="0"/>
  </p:normalViewPr>
  <p:slideViewPr>
    <p:cSldViewPr>
      <p:cViewPr varScale="1">
        <p:scale>
          <a:sx n="76" d="100"/>
          <a:sy n="76" d="100"/>
        </p:scale>
        <p:origin x="1158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BA7BE-423F-45DD-9922-73D79C730F7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B53B7-307D-4EBF-AD19-37FF267B6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6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Alice can not trust the certificate signing to be done over the internet as that may also be under attack by a MITM. She has to go in person.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After sending the certificate to Bob, even if Mallory intercepts the traffic; she cannot replace Alice’s public key with her own, as that would invalidate the DMV’s signature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There is no way for Mallory to get a certificate from DMV for her public key with Alice’s name as the DMV will not approve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20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29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An Actual X.509 certificate contains binary data. Therefore when stored in files, X.509 certificates use encoders.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A common scheme used here is Base64 encoder and are usually saved in a file with PEM extension (Privacy Enhanced Mail)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We can copy and paste the content into a file (</a:t>
            </a:r>
            <a:r>
              <a:rPr lang="en-US" baseline="0" dirty="0" err="1"/>
              <a:t>paypal.pem</a:t>
            </a:r>
            <a:r>
              <a:rPr lang="en-US" baseline="0" dirty="0"/>
              <a:t>) and run another </a:t>
            </a:r>
            <a:r>
              <a:rPr lang="en-US" i="1" baseline="0" dirty="0" err="1"/>
              <a:t>openssl</a:t>
            </a:r>
            <a:r>
              <a:rPr lang="en-US" baseline="0" dirty="0"/>
              <a:t> command to decode it.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baseline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The following commands decodes it to raw binary data, but we cannot view it using a text editor. We should use something like </a:t>
            </a:r>
            <a:r>
              <a:rPr lang="en-US" baseline="0" dirty="0" err="1"/>
              <a:t>ghex</a:t>
            </a:r>
            <a:r>
              <a:rPr lang="en-US" baseline="0" dirty="0"/>
              <a:t> 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err="1"/>
              <a:t>Openssl</a:t>
            </a:r>
            <a:r>
              <a:rPr lang="en-US" baseline="0" dirty="0"/>
              <a:t> x509 –in </a:t>
            </a:r>
            <a:r>
              <a:rPr lang="en-US" baseline="0" dirty="0" err="1"/>
              <a:t>paypal.pem</a:t>
            </a:r>
            <a:r>
              <a:rPr lang="en-US" baseline="0" dirty="0"/>
              <a:t> –</a:t>
            </a:r>
            <a:r>
              <a:rPr lang="en-US" baseline="0" dirty="0" err="1"/>
              <a:t>outform</a:t>
            </a:r>
            <a:r>
              <a:rPr lang="en-US" baseline="0" dirty="0"/>
              <a:t> der &gt; </a:t>
            </a:r>
            <a:r>
              <a:rPr lang="en-US" baseline="0" dirty="0" err="1"/>
              <a:t>paypal.der</a:t>
            </a:r>
            <a:endParaRPr lang="en-US" baseline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baseline="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The best way to view an X.509 certificate it to convert PEM to text 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baseline="0" dirty="0" err="1"/>
              <a:t>openssl</a:t>
            </a:r>
            <a:r>
              <a:rPr lang="en-US" baseline="0" dirty="0"/>
              <a:t> x509 –in </a:t>
            </a:r>
            <a:r>
              <a:rPr lang="en-US" baseline="0" dirty="0" err="1"/>
              <a:t>paypal.pem</a:t>
            </a:r>
            <a:r>
              <a:rPr lang="en-US" baseline="0" dirty="0"/>
              <a:t> –text -</a:t>
            </a:r>
            <a:r>
              <a:rPr lang="en-US" baseline="0" dirty="0" err="1"/>
              <a:t>noout</a:t>
            </a:r>
            <a:endParaRPr lang="en-US" baseline="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baseline="0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11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1" dirty="0"/>
              <a:t>Verify the subject</a:t>
            </a:r>
            <a:endParaRPr lang="en-US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CA needs to check whether the application owns the domain or not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For example applicant wants to get a certificate for www.example.com to verify whether the applicant owns the domain or not, the CA may give the applicant a randomly generated number and ask the applicant to put it on the website http://www.example.com/proof.txt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If the applicant is able to do that, the domain ownership will be verified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Some of the verification can be done using online sources such as WHOIS </a:t>
            </a:r>
            <a:r>
              <a:rPr lang="en-US" baseline="0" dirty="0" err="1"/>
              <a:t>etc</a:t>
            </a:r>
            <a:endParaRPr lang="en-US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Not all information is available online, therefore sometimes legal experts or authorities, such as lawyers and government officials may be involved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24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aseline="0" dirty="0"/>
              <a:t>Scenario: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aseline="0" dirty="0"/>
              <a:t>A bank needs a X.509 certificate and it will have to go to a CA. We will use </a:t>
            </a:r>
            <a:r>
              <a:rPr lang="en-US" baseline="0" dirty="0" err="1"/>
              <a:t>ModelCA</a:t>
            </a:r>
            <a:r>
              <a:rPr lang="en-US" baseline="0" dirty="0"/>
              <a:t> to refer to this CA in our emulation.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63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20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45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It should be noted that the signature in the request is generated by the requesters using its own private key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The purpose of this signature is to prevent an entity from requesting a bogus certificate of someone else’s public 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94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In the real world, the bank would submit its CSR file to a CA, who will issue a signed certificate after verifying the information in the CSR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aseline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If </a:t>
            </a:r>
            <a:r>
              <a:rPr lang="en-US" baseline="0" dirty="0" err="1"/>
              <a:t>openssl</a:t>
            </a:r>
            <a:r>
              <a:rPr lang="en-US" baseline="0" dirty="0"/>
              <a:t> </a:t>
            </a:r>
            <a:r>
              <a:rPr lang="en-US" baseline="0" dirty="0" err="1"/>
              <a:t>refusesd</a:t>
            </a:r>
            <a:r>
              <a:rPr lang="en-US" baseline="0" dirty="0"/>
              <a:t> to generate certificates, it is very likely that some of the fields in the request do not match with those of the CA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Matching rules are specified in /</a:t>
            </a:r>
            <a:r>
              <a:rPr lang="en-US" baseline="0" dirty="0" err="1"/>
              <a:t>usr</a:t>
            </a:r>
            <a:r>
              <a:rPr lang="en-US" baseline="0" dirty="0"/>
              <a:t>/lib/</a:t>
            </a:r>
            <a:r>
              <a:rPr lang="en-US" baseline="0" dirty="0" err="1"/>
              <a:t>ssl</a:t>
            </a:r>
            <a:r>
              <a:rPr lang="en-US" baseline="0" dirty="0"/>
              <a:t>/</a:t>
            </a:r>
            <a:r>
              <a:rPr lang="en-US" baseline="0" dirty="0" err="1"/>
              <a:t>openssl.cnf</a:t>
            </a:r>
            <a:r>
              <a:rPr lang="en-US" baseline="0" dirty="0"/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By default we see “policy=</a:t>
            </a:r>
            <a:r>
              <a:rPr lang="en-US" baseline="0" dirty="0" err="1"/>
              <a:t>policy_match</a:t>
            </a:r>
            <a:r>
              <a:rPr lang="en-US" baseline="0" dirty="0"/>
              <a:t>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/>
              <a:t>We can change it to “policy=</a:t>
            </a:r>
            <a:r>
              <a:rPr lang="en-US" baseline="0" dirty="0" err="1"/>
              <a:t>policy_anything</a:t>
            </a:r>
            <a:r>
              <a:rPr lang="en-US" baseline="0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55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As long as we trust the software, we are trusting the public keys that come with it.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Root CA vouches for intermediate CA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Intermediate CA can then issue certificate for other users.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aseline="0" dirty="0"/>
          </a:p>
          <a:p>
            <a:r>
              <a:rPr lang="en-US" baseline="0" dirty="0"/>
              <a:t>In the figure,</a:t>
            </a:r>
          </a:p>
          <a:p>
            <a:r>
              <a:rPr lang="en-US" baseline="0" dirty="0"/>
              <a:t>Certificate chain is obtained from </a:t>
            </a:r>
            <a:r>
              <a:rPr lang="en-US" baseline="0" dirty="0" err="1"/>
              <a:t>Paypal</a:t>
            </a:r>
            <a:r>
              <a:rPr lang="en-US" baseline="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It contains two certificates. First one </a:t>
            </a:r>
            <a:r>
              <a:rPr lang="en-US" baseline="0" dirty="0" err="1"/>
              <a:t>payapal’s</a:t>
            </a:r>
            <a:r>
              <a:rPr lang="en-US" baseline="0" dirty="0"/>
              <a:t> certificate, issued by a CA called “Symantec Class 3 EV SSL CA –G3”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This is an intermediate CA which is certified by another CA “VeriSign Class 3 Public Primary CA G5”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VeriSign-G5 is the root CA 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In the command used, the </a:t>
            </a:r>
            <a:r>
              <a:rPr lang="en-US" i="1" baseline="0" dirty="0"/>
              <a:t>untrusted</a:t>
            </a:r>
            <a:r>
              <a:rPr lang="en-US" baseline="0" dirty="0"/>
              <a:t> option provides a certificate chain, the last of which has to be the domain server’s certificate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The </a:t>
            </a:r>
            <a:r>
              <a:rPr lang="en-US" i="1" baseline="0" dirty="0" err="1"/>
              <a:t>CAfile</a:t>
            </a:r>
            <a:r>
              <a:rPr lang="en-US" baseline="0" dirty="0"/>
              <a:t> option specifies a trusted CA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If everything works fine, an </a:t>
            </a:r>
            <a:r>
              <a:rPr lang="en-US" i="1" baseline="0" dirty="0"/>
              <a:t>OK</a:t>
            </a:r>
            <a:r>
              <a:rPr lang="en-US" baseline="0" dirty="0"/>
              <a:t> will be printed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93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50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/>
              <a:t>Attacker has to compromise</a:t>
            </a:r>
            <a:r>
              <a:rPr lang="en-US" sz="1200" baseline="0" dirty="0"/>
              <a:t> a CA to get a valid signature; this is not easy.</a:t>
            </a:r>
            <a:endParaRPr lang="en-US" baseline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The attack will be successful if the user ignores the warnings and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B53B7-307D-4EBF-AD19-37FF267B60C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45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9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4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99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0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8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5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5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39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6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CE07-DAEF-4CE6-A6A4-74F60FC111FA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D6C27-1B0D-423D-A023-D546622BD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89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mp"/><Relationship Id="rId4" Type="http://schemas.openxmlformats.org/officeDocument/2006/relationships/image" Target="../media/image5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09750"/>
            <a:ext cx="6400800" cy="1102519"/>
          </a:xfrm>
        </p:spPr>
        <p:txBody>
          <a:bodyPr>
            <a:noAutofit/>
          </a:bodyPr>
          <a:lstStyle/>
          <a:p>
            <a:r>
              <a:rPr lang="en-US" sz="4800" dirty="0"/>
              <a:t>Public Key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44085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Public Key Cryptography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5535"/>
            <a:ext cx="8229600" cy="3003304"/>
          </a:xfrm>
        </p:spPr>
      </p:pic>
    </p:spTree>
    <p:extLst>
      <p:ext uri="{BB962C8B-B14F-4D97-AF65-F5344CB8AC3E}">
        <p14:creationId xmlns:p14="http://schemas.microsoft.com/office/powerpoint/2010/main" val="240492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Man-in-the-Middle (MITM) </a:t>
            </a:r>
            <a:r>
              <a:rPr lang="en-US" sz="3200" dirty="0" smtClean="0"/>
              <a:t>Attack</a:t>
            </a:r>
            <a:endParaRPr lang="en-US" sz="32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09750"/>
            <a:ext cx="8161125" cy="214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09550"/>
            <a:ext cx="7696200" cy="857250"/>
          </a:xfrm>
        </p:spPr>
        <p:txBody>
          <a:bodyPr>
            <a:normAutofit/>
          </a:bodyPr>
          <a:lstStyle/>
          <a:p>
            <a:pPr marL="82153" algn="just"/>
            <a:r>
              <a:rPr lang="en-US" sz="3200" dirty="0" smtClean="0"/>
              <a:t>What Is the Fundamental Problem?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52550"/>
            <a:ext cx="7696200" cy="3371850"/>
          </a:xfrm>
        </p:spPr>
        <p:txBody>
          <a:bodyPr>
            <a:normAutofit/>
          </a:bodyPr>
          <a:lstStyle/>
          <a:p>
            <a:pPr marL="82153" indent="0" algn="just">
              <a:buNone/>
            </a:pPr>
            <a:r>
              <a:rPr lang="en-US" sz="2200" b="1" dirty="0" smtClean="0"/>
              <a:t>Fundamental Problem</a:t>
            </a:r>
            <a:r>
              <a:rPr lang="en-US" sz="2200" dirty="0" smtClean="0"/>
              <a:t>: Bob </a:t>
            </a:r>
            <a:r>
              <a:rPr lang="en-US" sz="2200" dirty="0"/>
              <a:t>has no way to tell </a:t>
            </a:r>
            <a:r>
              <a:rPr lang="en-US" sz="2200" dirty="0" smtClean="0"/>
              <a:t>whether the </a:t>
            </a:r>
            <a:r>
              <a:rPr lang="en-US" sz="2200" dirty="0"/>
              <a:t>public key </a:t>
            </a:r>
            <a:r>
              <a:rPr lang="en-US" sz="2200" dirty="0" smtClean="0"/>
              <a:t>he has received belongs to Alice or not. </a:t>
            </a:r>
          </a:p>
          <a:p>
            <a:pPr marL="82153" indent="0" algn="just">
              <a:buNone/>
            </a:pPr>
            <a:endParaRPr lang="en-US" sz="2200" dirty="0"/>
          </a:p>
          <a:p>
            <a:pPr marL="82153" indent="0" algn="just">
              <a:buNone/>
            </a:pPr>
            <a:r>
              <a:rPr lang="en-US" sz="2200" b="1" dirty="0" smtClean="0"/>
              <a:t>Solution</a:t>
            </a:r>
            <a:r>
              <a:rPr lang="en-US" sz="2200" dirty="0" smtClean="0"/>
              <a:t>: </a:t>
            </a:r>
          </a:p>
          <a:p>
            <a:pPr marL="725091" lvl="1" indent="-342900" algn="just"/>
            <a:r>
              <a:rPr lang="en-US" sz="2000" dirty="0" smtClean="0"/>
              <a:t>Find a trusted party to verify the identity</a:t>
            </a:r>
          </a:p>
          <a:p>
            <a:pPr marL="725091" lvl="1" indent="-342900" algn="just"/>
            <a:r>
              <a:rPr lang="en-US" sz="2000" dirty="0"/>
              <a:t>Bind an identity to a public </a:t>
            </a:r>
            <a:r>
              <a:rPr lang="en-US" sz="2000" dirty="0" smtClean="0"/>
              <a:t>key in a certificate</a:t>
            </a:r>
          </a:p>
          <a:p>
            <a:pPr marL="725091" lvl="1" indent="-342900" algn="just"/>
            <a:r>
              <a:rPr lang="en-US" sz="2000" dirty="0" smtClean="0"/>
              <a:t>The certificate cannot be forged or tampered with (using digital signature)</a:t>
            </a:r>
            <a:endParaRPr lang="en-US" sz="1500" dirty="0"/>
          </a:p>
          <a:p>
            <a:pPr marL="82153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12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Digital Signature</a:t>
            </a:r>
            <a:endParaRPr lang="en-US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70858"/>
            <a:ext cx="7620000" cy="26489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4102" y="3819830"/>
            <a:ext cx="64157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the signature is not tampered with, M’ will be the  same as 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Alice can sign (she has the private key)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Everybody can verify (public key is known publically)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98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/>
              <a:t>Defeating MITM </a:t>
            </a:r>
            <a:r>
              <a:rPr lang="en-US" sz="3200" dirty="0" smtClean="0"/>
              <a:t>Attacks using Digital Signature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753" y="1352550"/>
            <a:ext cx="8229600" cy="3276600"/>
          </a:xfrm>
        </p:spPr>
        <p:txBody>
          <a:bodyPr>
            <a:normAutofit/>
          </a:bodyPr>
          <a:lstStyle/>
          <a:p>
            <a:pPr marL="511969" indent="-255985">
              <a:spcBef>
                <a:spcPts val="0"/>
              </a:spcBef>
              <a:spcAft>
                <a:spcPts val="1200"/>
              </a:spcAft>
            </a:pPr>
            <a:r>
              <a:rPr lang="en-US" sz="2200" dirty="0" smtClean="0"/>
              <a:t>Alice </a:t>
            </a:r>
            <a:r>
              <a:rPr lang="en-US" sz="2200" dirty="0"/>
              <a:t>needs to </a:t>
            </a:r>
            <a:r>
              <a:rPr lang="en-US" sz="2200" dirty="0" smtClean="0"/>
              <a:t>go to a </a:t>
            </a:r>
            <a:r>
              <a:rPr lang="en-US" sz="2200" dirty="0" smtClean="0">
                <a:solidFill>
                  <a:srgbClr val="FF0000"/>
                </a:solidFill>
              </a:rPr>
              <a:t>trusted party </a:t>
            </a:r>
            <a:r>
              <a:rPr lang="en-US" sz="2200" dirty="0"/>
              <a:t>to get </a:t>
            </a:r>
            <a:r>
              <a:rPr lang="en-US" sz="2200" dirty="0" smtClean="0"/>
              <a:t>a certificate.</a:t>
            </a:r>
            <a:endParaRPr lang="en-US" sz="2200" dirty="0"/>
          </a:p>
          <a:p>
            <a:pPr marL="511969" indent="-255985"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After verifying Alice’s identity, the </a:t>
            </a:r>
            <a:r>
              <a:rPr lang="en-US" sz="2200" dirty="0" smtClean="0"/>
              <a:t>trusted party </a:t>
            </a:r>
            <a:r>
              <a:rPr lang="en-US" sz="2200" dirty="0"/>
              <a:t>issues a certificate with Alice’s </a:t>
            </a:r>
            <a:r>
              <a:rPr lang="en-US" sz="2200" dirty="0" smtClean="0"/>
              <a:t>name and </a:t>
            </a:r>
            <a:r>
              <a:rPr lang="en-US" sz="2200" dirty="0"/>
              <a:t>her public </a:t>
            </a:r>
            <a:r>
              <a:rPr lang="en-US" sz="2200" dirty="0" smtClean="0"/>
              <a:t>key.</a:t>
            </a:r>
            <a:endParaRPr lang="en-US" sz="2200" dirty="0"/>
          </a:p>
          <a:p>
            <a:pPr marL="511969" indent="-255985">
              <a:spcBef>
                <a:spcPts val="0"/>
              </a:spcBef>
              <a:spcAft>
                <a:spcPts val="1200"/>
              </a:spcAft>
            </a:pPr>
            <a:r>
              <a:rPr lang="en-US" sz="2200" dirty="0" smtClean="0"/>
              <a:t>Alice </a:t>
            </a:r>
            <a:r>
              <a:rPr lang="en-US" sz="2200" dirty="0"/>
              <a:t>sends the entire certificate to </a:t>
            </a:r>
            <a:r>
              <a:rPr lang="en-US" sz="2200" dirty="0" smtClean="0"/>
              <a:t>Bob.</a:t>
            </a:r>
            <a:endParaRPr lang="en-US" sz="2200" dirty="0"/>
          </a:p>
          <a:p>
            <a:pPr marL="511969" indent="-255985">
              <a:spcBef>
                <a:spcPts val="0"/>
              </a:spcBef>
              <a:spcAft>
                <a:spcPts val="1200"/>
              </a:spcAft>
            </a:pPr>
            <a:r>
              <a:rPr lang="en-US" sz="2200" dirty="0"/>
              <a:t>Bob verifies the certificate </a:t>
            </a:r>
            <a:r>
              <a:rPr lang="en-US" sz="2200" dirty="0" smtClean="0"/>
              <a:t>using the trusted party’s </a:t>
            </a:r>
            <a:r>
              <a:rPr lang="en-US" sz="2200" dirty="0"/>
              <a:t>public </a:t>
            </a:r>
            <a:r>
              <a:rPr lang="en-US" sz="2200" dirty="0" smtClean="0"/>
              <a:t>key.</a:t>
            </a:r>
          </a:p>
          <a:p>
            <a:pPr marL="511969" indent="-255985">
              <a:spcBef>
                <a:spcPts val="0"/>
              </a:spcBef>
              <a:spcAft>
                <a:spcPts val="1200"/>
              </a:spcAft>
            </a:pPr>
            <a:r>
              <a:rPr lang="en-US" sz="2200" dirty="0" smtClean="0"/>
              <a:t>Bob now knows the </a:t>
            </a:r>
            <a:r>
              <a:rPr lang="en-US" sz="2200" dirty="0" smtClean="0">
                <a:solidFill>
                  <a:srgbClr val="FF0000"/>
                </a:solidFill>
              </a:rPr>
              <a:t>true owner </a:t>
            </a:r>
            <a:r>
              <a:rPr lang="en-US" sz="2200" dirty="0" smtClean="0"/>
              <a:t>of a public key.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6479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6172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Public Key Infrastructure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164" y="1428750"/>
            <a:ext cx="8068235" cy="3124200"/>
          </a:xfrm>
        </p:spPr>
        <p:txBody>
          <a:bodyPr>
            <a:normAutofit/>
          </a:bodyPr>
          <a:lstStyle/>
          <a:p>
            <a:pPr marL="410764" indent="-285750">
              <a:spcBef>
                <a:spcPts val="0"/>
              </a:spcBef>
              <a:spcAft>
                <a:spcPts val="1200"/>
              </a:spcAft>
            </a:pPr>
            <a:r>
              <a:rPr lang="en-US" sz="2200" b="1" dirty="0" smtClean="0"/>
              <a:t>Certificate </a:t>
            </a:r>
            <a:r>
              <a:rPr lang="en-US" sz="2200" b="1" dirty="0"/>
              <a:t>Authority (CA</a:t>
            </a:r>
            <a:r>
              <a:rPr lang="en-US" sz="2200" b="1" dirty="0" smtClean="0"/>
              <a:t>): </a:t>
            </a:r>
            <a:r>
              <a:rPr lang="en-US" sz="2200" dirty="0" smtClean="0"/>
              <a:t>a </a:t>
            </a:r>
            <a:r>
              <a:rPr lang="en-US" sz="2200" dirty="0" smtClean="0">
                <a:solidFill>
                  <a:srgbClr val="FF0000"/>
                </a:solidFill>
              </a:rPr>
              <a:t>trusted party</a:t>
            </a:r>
            <a:r>
              <a:rPr lang="en-US" sz="2200" dirty="0" smtClean="0"/>
              <a:t>, responsible </a:t>
            </a:r>
            <a:r>
              <a:rPr lang="en-US" sz="2200" dirty="0"/>
              <a:t>for verifying the identity of </a:t>
            </a:r>
            <a:r>
              <a:rPr lang="en-US" sz="2200" dirty="0" smtClean="0"/>
              <a:t>users, and then bind the verified identity to a public keys.</a:t>
            </a:r>
          </a:p>
          <a:p>
            <a:pPr marL="410764" indent="-285750">
              <a:spcBef>
                <a:spcPts val="0"/>
              </a:spcBef>
              <a:spcAft>
                <a:spcPts val="1200"/>
              </a:spcAft>
            </a:pPr>
            <a:r>
              <a:rPr lang="en-US" sz="2200" b="1" dirty="0" smtClean="0"/>
              <a:t>Digital </a:t>
            </a:r>
            <a:r>
              <a:rPr lang="en-US" sz="2200" b="1" dirty="0"/>
              <a:t>Certificates</a:t>
            </a:r>
            <a:r>
              <a:rPr lang="en-US" sz="2200" b="1" dirty="0" smtClean="0"/>
              <a:t>: </a:t>
            </a:r>
            <a:r>
              <a:rPr lang="en-US" sz="2200" dirty="0" smtClean="0"/>
              <a:t>A document certifying that the public key included inside does belong to the identity described in the document.</a:t>
            </a:r>
          </a:p>
          <a:p>
            <a:pPr marL="710802" lvl="1" indent="-285750">
              <a:spcBef>
                <a:spcPts val="0"/>
              </a:spcBef>
              <a:spcAft>
                <a:spcPts val="1200"/>
              </a:spcAft>
            </a:pPr>
            <a:r>
              <a:rPr lang="en-US" sz="2000" dirty="0" smtClean="0"/>
              <a:t>X.509 standard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213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43517"/>
            <a:ext cx="6172200" cy="857250"/>
          </a:xfrm>
        </p:spPr>
        <p:txBody>
          <a:bodyPr>
            <a:normAutofit/>
          </a:bodyPr>
          <a:lstStyle/>
          <a:p>
            <a:pPr marL="82153" algn="just"/>
            <a:r>
              <a:rPr lang="en-US" sz="3200" dirty="0" smtClean="0"/>
              <a:t>Digital Certificate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E24AE-10A3-4520-9B4B-3B343B1AB0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334" r="24167" b="36666"/>
          <a:stretch/>
        </p:blipFill>
        <p:spPr>
          <a:xfrm>
            <a:off x="719489" y="2134774"/>
            <a:ext cx="7341063" cy="14520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3066" y="1226236"/>
            <a:ext cx="373038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 smtClean="0"/>
              <a:t>Let’s get paypal’s certificates</a:t>
            </a:r>
            <a:endParaRPr lang="en-US" sz="2200" dirty="0"/>
          </a:p>
        </p:txBody>
      </p:sp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03" y="1724907"/>
            <a:ext cx="7086600" cy="2858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654" y="3682770"/>
            <a:ext cx="8073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Save the above data to </a:t>
            </a:r>
            <a:r>
              <a:rPr lang="en-US" sz="2000" dirty="0" err="1" smtClean="0"/>
              <a:t>paypal.pem</a:t>
            </a:r>
            <a:r>
              <a:rPr lang="en-US" sz="2000" dirty="0" smtClean="0"/>
              <a:t>, and use the following command decode it (see next slide) </a:t>
            </a:r>
            <a:endParaRPr lang="en-US" sz="2000" dirty="0"/>
          </a:p>
        </p:txBody>
      </p:sp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03" y="4472005"/>
            <a:ext cx="5311600" cy="33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/>
              <a:t>Example of X.509 Certificate (1</a:t>
            </a:r>
            <a:r>
              <a:rPr lang="en-US" sz="3200" baseline="30000" dirty="0" smtClean="0"/>
              <a:t>st</a:t>
            </a:r>
            <a:r>
              <a:rPr lang="en-US" sz="3200" dirty="0" smtClean="0"/>
              <a:t> Part)</a:t>
            </a:r>
            <a:endParaRPr lang="en-US" sz="32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504950"/>
            <a:ext cx="5669586" cy="2840902"/>
          </a:xfrm>
          <a:prstGeom prst="rect">
            <a:avLst/>
          </a:prstGeom>
        </p:spPr>
      </p:pic>
      <p:sp>
        <p:nvSpPr>
          <p:cNvPr id="5" name="Left Brace 4"/>
          <p:cNvSpPr/>
          <p:nvPr/>
        </p:nvSpPr>
        <p:spPr>
          <a:xfrm>
            <a:off x="2590800" y="2419350"/>
            <a:ext cx="152400" cy="762000"/>
          </a:xfrm>
          <a:prstGeom prst="leftBrace">
            <a:avLst>
              <a:gd name="adj1" fmla="val 54369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>
            <a:off x="2590800" y="3333750"/>
            <a:ext cx="152400" cy="1012102"/>
          </a:xfrm>
          <a:prstGeom prst="leftBrace">
            <a:avLst>
              <a:gd name="adj1" fmla="val 54369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48977" y="2606507"/>
            <a:ext cx="1741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CA’s identity</a:t>
            </a:r>
          </a:p>
          <a:p>
            <a:pPr algn="ctr"/>
            <a:r>
              <a:rPr lang="en-US" dirty="0" smtClean="0"/>
              <a:t>(Symantec)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3486150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The owner of the certificate</a:t>
            </a:r>
          </a:p>
          <a:p>
            <a:pPr algn="ctr"/>
            <a:r>
              <a:rPr lang="en-US" dirty="0" smtClean="0"/>
              <a:t>(</a:t>
            </a:r>
            <a:r>
              <a:rPr lang="en-US" dirty="0" err="1" smtClean="0"/>
              <a:t>paypal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8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/>
              <a:t>Example of X.509 </a:t>
            </a:r>
            <a:r>
              <a:rPr lang="en-US" sz="3200" dirty="0" smtClean="0"/>
              <a:t>Certificate (2</a:t>
            </a:r>
            <a:r>
              <a:rPr lang="en-US" sz="3200" baseline="30000" dirty="0" smtClean="0"/>
              <a:t>nd</a:t>
            </a:r>
            <a:r>
              <a:rPr lang="en-US" sz="3200" dirty="0" smtClean="0"/>
              <a:t> Part)</a:t>
            </a:r>
            <a:endParaRPr lang="en-US" sz="3200" dirty="0"/>
          </a:p>
        </p:txBody>
      </p:sp>
      <p:grpSp>
        <p:nvGrpSpPr>
          <p:cNvPr id="6" name="Group 5"/>
          <p:cNvGrpSpPr/>
          <p:nvPr/>
        </p:nvGrpSpPr>
        <p:grpSpPr>
          <a:xfrm>
            <a:off x="2590800" y="1657351"/>
            <a:ext cx="6096000" cy="2590800"/>
            <a:chOff x="1981200" y="1480758"/>
            <a:chExt cx="6607152" cy="2725467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200" y="2812251"/>
              <a:ext cx="6607152" cy="1393974"/>
            </a:xfrm>
            <a:prstGeom prst="rect">
              <a:avLst/>
            </a:prstGeom>
          </p:spPr>
        </p:pic>
        <p:pic>
          <p:nvPicPr>
            <p:cNvPr id="4" name="Picture 3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200" y="1480758"/>
              <a:ext cx="6607152" cy="1368472"/>
            </a:xfrm>
            <a:prstGeom prst="rect">
              <a:avLst/>
            </a:prstGeom>
          </p:spPr>
        </p:pic>
      </p:grpSp>
      <p:sp>
        <p:nvSpPr>
          <p:cNvPr id="7" name="Left Brace 6"/>
          <p:cNvSpPr/>
          <p:nvPr/>
        </p:nvSpPr>
        <p:spPr>
          <a:xfrm>
            <a:off x="2286000" y="1733550"/>
            <a:ext cx="198119" cy="1524000"/>
          </a:xfrm>
          <a:prstGeom prst="leftBrace">
            <a:avLst>
              <a:gd name="adj1" fmla="val 54369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14340" y="2307778"/>
            <a:ext cx="111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Public key</a:t>
            </a:r>
            <a:endParaRPr lang="en-US" dirty="0"/>
          </a:p>
        </p:txBody>
      </p:sp>
      <p:sp>
        <p:nvSpPr>
          <p:cNvPr id="9" name="Left Brace 8"/>
          <p:cNvSpPr/>
          <p:nvPr/>
        </p:nvSpPr>
        <p:spPr>
          <a:xfrm>
            <a:off x="2286000" y="3409950"/>
            <a:ext cx="198119" cy="838201"/>
          </a:xfrm>
          <a:prstGeom prst="leftBrace">
            <a:avLst>
              <a:gd name="adj1" fmla="val 54369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94053" y="3644384"/>
            <a:ext cx="1491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CA’s signature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63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6172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The Core Functionalities of CA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164" y="1123950"/>
            <a:ext cx="7915835" cy="3295650"/>
          </a:xfrm>
        </p:spPr>
        <p:txBody>
          <a:bodyPr>
            <a:normAutofit/>
          </a:bodyPr>
          <a:lstStyle/>
          <a:p>
            <a:pPr marL="367903" indent="-285750" algn="just"/>
            <a:r>
              <a:rPr lang="en-US" sz="2000" b="1" dirty="0" smtClean="0"/>
              <a:t>Verify </a:t>
            </a:r>
            <a:r>
              <a:rPr lang="en-US" sz="2000" b="1" dirty="0"/>
              <a:t>the subject</a:t>
            </a:r>
          </a:p>
          <a:p>
            <a:pPr marL="690563" lvl="1" indent="-255588" algn="just"/>
            <a:r>
              <a:rPr lang="en-US" sz="1800" dirty="0" smtClean="0"/>
              <a:t>Ensure </a:t>
            </a:r>
            <a:r>
              <a:rPr lang="en-US" sz="1800" dirty="0"/>
              <a:t>that the person applying for the certificate either owns or represents the identity in the subject </a:t>
            </a:r>
            <a:r>
              <a:rPr lang="en-US" sz="1800" dirty="0" smtClean="0"/>
              <a:t>field.</a:t>
            </a:r>
            <a:endParaRPr lang="en-US" sz="1800" dirty="0"/>
          </a:p>
          <a:p>
            <a:pPr marL="434975" lvl="1" indent="0" algn="just">
              <a:buNone/>
            </a:pPr>
            <a:endParaRPr lang="en-US" sz="1500" dirty="0"/>
          </a:p>
          <a:p>
            <a:pPr marL="367903" indent="-285750" algn="just"/>
            <a:r>
              <a:rPr lang="en-US" sz="2000" b="1" dirty="0"/>
              <a:t>Signing </a:t>
            </a:r>
            <a:r>
              <a:rPr lang="en-US" sz="2000" b="1" dirty="0" smtClean="0"/>
              <a:t>digital </a:t>
            </a:r>
            <a:r>
              <a:rPr lang="en-US" sz="2000" b="1" dirty="0"/>
              <a:t>c</a:t>
            </a:r>
            <a:r>
              <a:rPr lang="en-US" sz="2000" b="1" dirty="0" smtClean="0"/>
              <a:t>ertificates</a:t>
            </a:r>
            <a:endParaRPr lang="en-US" sz="2000" b="1" dirty="0"/>
          </a:p>
          <a:p>
            <a:pPr marL="690563" lvl="1" indent="-304800" algn="just"/>
            <a:r>
              <a:rPr lang="en-US" sz="1800" dirty="0"/>
              <a:t>CA generates a digital signature for the certificate using its private </a:t>
            </a:r>
            <a:r>
              <a:rPr lang="en-US" sz="1800" dirty="0" smtClean="0"/>
              <a:t>key.</a:t>
            </a:r>
            <a:endParaRPr lang="en-US" sz="1800" dirty="0"/>
          </a:p>
          <a:p>
            <a:pPr marL="690563" lvl="1" indent="-304800" algn="just"/>
            <a:r>
              <a:rPr lang="en-US" sz="1800" dirty="0"/>
              <a:t>Once the signature is applied, the certificate cannot be </a:t>
            </a:r>
            <a:r>
              <a:rPr lang="en-US" sz="1800" dirty="0" smtClean="0"/>
              <a:t>modified.</a:t>
            </a:r>
            <a:endParaRPr lang="en-US" sz="1800" dirty="0"/>
          </a:p>
          <a:p>
            <a:pPr marL="690563" lvl="1" indent="-304800" algn="just"/>
            <a:r>
              <a:rPr lang="en-US" sz="1800" dirty="0"/>
              <a:t>Signatures can be verified by anyone with the </a:t>
            </a:r>
            <a:r>
              <a:rPr lang="en-US" sz="1800" dirty="0" smtClean="0"/>
              <a:t>CA’s </a:t>
            </a:r>
            <a:r>
              <a:rPr lang="en-US" sz="1800" dirty="0"/>
              <a:t>public </a:t>
            </a:r>
            <a:r>
              <a:rPr lang="en-US" sz="1800" dirty="0" smtClean="0"/>
              <a:t>key.</a:t>
            </a:r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5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7315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Being a Certificate Authority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7924800" cy="3505200"/>
          </a:xfrm>
        </p:spPr>
        <p:txBody>
          <a:bodyPr>
            <a:normAutofit/>
          </a:bodyPr>
          <a:lstStyle/>
          <a:p>
            <a:pPr marL="233363" indent="-233363">
              <a:spcBef>
                <a:spcPts val="0"/>
              </a:spcBef>
              <a:spcAft>
                <a:spcPts val="1200"/>
              </a:spcAft>
              <a:defRPr/>
            </a:pPr>
            <a:r>
              <a:rPr lang="en-US" dirty="0" smtClean="0"/>
              <a:t>Let’s go through the process</a:t>
            </a:r>
          </a:p>
          <a:p>
            <a:pPr marL="533401" lvl="1" indent="-233363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dirty="0" smtClean="0"/>
              <a:t>How a CA issues certificates</a:t>
            </a:r>
          </a:p>
          <a:p>
            <a:pPr marL="533401" lvl="1" indent="-233363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dirty="0" smtClean="0"/>
              <a:t>How to get a certificate from a CA</a:t>
            </a:r>
          </a:p>
          <a:p>
            <a:pPr marL="533401" lvl="1" indent="-233363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dirty="0" smtClean="0"/>
              <a:t>How to set up a web server using a certificate</a:t>
            </a:r>
          </a:p>
        </p:txBody>
      </p:sp>
    </p:spTree>
    <p:extLst>
      <p:ext uri="{BB962C8B-B14F-4D97-AF65-F5344CB8AC3E}">
        <p14:creationId xmlns:p14="http://schemas.microsoft.com/office/powerpoint/2010/main" val="262364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4336"/>
            <a:ext cx="6172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CA Setup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153400" cy="3524250"/>
          </a:xfrm>
        </p:spPr>
        <p:txBody>
          <a:bodyPr>
            <a:normAutofit/>
          </a:bodyPr>
          <a:lstStyle/>
          <a:p>
            <a:pPr marL="341313" indent="-260350" algn="just"/>
            <a:r>
              <a:rPr lang="en-US" sz="2200" dirty="0" smtClean="0"/>
              <a:t>Our CA will be called </a:t>
            </a:r>
            <a:r>
              <a:rPr lang="en-US" sz="2200" dirty="0" err="1" smtClean="0"/>
              <a:t>ModelCA</a:t>
            </a:r>
            <a:endParaRPr lang="en-US" sz="2200" dirty="0"/>
          </a:p>
          <a:p>
            <a:pPr marL="339328" algn="just"/>
            <a:r>
              <a:rPr lang="en-US" sz="2200" dirty="0" smtClean="0"/>
              <a:t>We need to set up the following for </a:t>
            </a:r>
            <a:r>
              <a:rPr lang="en-US" sz="2200" dirty="0" err="1" smtClean="0"/>
              <a:t>ModelCA</a:t>
            </a:r>
            <a:r>
              <a:rPr lang="en-US" sz="2200" dirty="0" smtClean="0"/>
              <a:t>:</a:t>
            </a:r>
          </a:p>
          <a:p>
            <a:pPr marL="639366" lvl="1" algn="just"/>
            <a:r>
              <a:rPr lang="en-US" sz="1900" dirty="0" smtClean="0"/>
              <a:t>Generate public/private key pair</a:t>
            </a:r>
          </a:p>
          <a:p>
            <a:pPr marL="639366" lvl="1" algn="just"/>
            <a:r>
              <a:rPr lang="en-US" sz="1900" dirty="0" smtClean="0"/>
              <a:t>Create a X.509 certificate (who is going to sign it?)</a:t>
            </a:r>
          </a:p>
          <a:p>
            <a:pPr marL="639366" lvl="1" algn="just"/>
            <a:r>
              <a:rPr lang="en-US" sz="1900" dirty="0" smtClean="0"/>
              <a:t>We assume </a:t>
            </a:r>
            <a:r>
              <a:rPr lang="en-US" sz="1900" dirty="0" err="1" smtClean="0"/>
              <a:t>ModelCA</a:t>
            </a:r>
            <a:r>
              <a:rPr lang="en-US" sz="1900" dirty="0" smtClean="0"/>
              <a:t> is a root CA, so it is going to sign the certificate itself, i.e. self-signed. </a:t>
            </a:r>
          </a:p>
          <a:p>
            <a:pPr marL="339328" algn="just"/>
            <a:r>
              <a:rPr lang="en-US" sz="2200" dirty="0" smtClean="0"/>
              <a:t>The following command generates a self-signed X.509 certificate</a:t>
            </a:r>
            <a:endParaRPr lang="en-US" sz="2200" dirty="0"/>
          </a:p>
          <a:p>
            <a:pPr marL="82153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CAEFBA-0780-483E-AB3C-997268B299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67" t="62000" r="24166" b="30000"/>
          <a:stretch/>
        </p:blipFill>
        <p:spPr>
          <a:xfrm>
            <a:off x="990600" y="4019550"/>
            <a:ext cx="734695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5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Discussion 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733799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Question</a:t>
            </a:r>
            <a:r>
              <a:rPr lang="en-US" dirty="0" smtClean="0"/>
              <a:t>: If the ModelCA’s certificate is self-signed, how do we verify it?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Answer</a:t>
            </a:r>
            <a:r>
              <a:rPr lang="en-US" dirty="0" smtClean="0"/>
              <a:t>: There is no way to verify it. We just make sure that the certificate is obtained in a trusted way</a:t>
            </a:r>
          </a:p>
          <a:p>
            <a:pPr lvl="1"/>
            <a:r>
              <a:rPr lang="en-US" dirty="0" smtClean="0"/>
              <a:t>Come with the operating system (if we trust OS, we trust the cert.)</a:t>
            </a:r>
          </a:p>
          <a:p>
            <a:pPr lvl="1"/>
            <a:r>
              <a:rPr lang="en-US" dirty="0" smtClean="0"/>
              <a:t>Come with the software (if we trust the software, we trust the cert.)</a:t>
            </a:r>
          </a:p>
          <a:p>
            <a:pPr lvl="1"/>
            <a:r>
              <a:rPr lang="en-US" dirty="0" smtClean="0"/>
              <a:t>Manually added (if we trust our own decision, we trust the cert.)</a:t>
            </a:r>
          </a:p>
          <a:p>
            <a:pPr lvl="1"/>
            <a:r>
              <a:rPr lang="en-US" dirty="0" smtClean="0"/>
              <a:t>Sent to us by somebody whom we don’t trust (don’t trust the cert.)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2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7138"/>
            <a:ext cx="70866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 smtClean="0"/>
              <a:t>Get a Certificate from CA: Step 1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6350"/>
            <a:ext cx="8001000" cy="3295650"/>
          </a:xfrm>
        </p:spPr>
        <p:txBody>
          <a:bodyPr>
            <a:normAutofit/>
          </a:bodyPr>
          <a:lstStyle/>
          <a:p>
            <a:pPr marL="341313" indent="-260350" algn="just"/>
            <a:r>
              <a:rPr lang="en-US" sz="2000" dirty="0"/>
              <a:t>Step 1: Generate </a:t>
            </a:r>
            <a:r>
              <a:rPr lang="en-US" sz="2000" dirty="0" smtClean="0"/>
              <a:t>a </a:t>
            </a:r>
            <a:r>
              <a:rPr lang="en-US" sz="2000" dirty="0"/>
              <a:t>public/private key pair</a:t>
            </a:r>
          </a:p>
          <a:p>
            <a:pPr marL="82153" indent="0" algn="just">
              <a:buNone/>
            </a:pPr>
            <a:endParaRPr lang="en-US" sz="1500" dirty="0"/>
          </a:p>
          <a:p>
            <a:pPr marL="82153" indent="0" algn="just">
              <a:buNone/>
            </a:pPr>
            <a:endParaRPr lang="en-US" sz="1500" dirty="0"/>
          </a:p>
          <a:p>
            <a:pPr marL="339328" algn="just"/>
            <a:endParaRPr lang="en-US" sz="1500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38350"/>
            <a:ext cx="6012701" cy="266723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5181600" y="2419350"/>
            <a:ext cx="228600" cy="419077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4648200" y="2305073"/>
            <a:ext cx="152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48200" y="2935558"/>
            <a:ext cx="2285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Contains both private and public keys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3048000" y="2343150"/>
            <a:ext cx="84529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57400" y="2940297"/>
            <a:ext cx="220979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Encrypt the </a:t>
            </a:r>
            <a:r>
              <a:rPr lang="en-US" dirty="0" err="1" smtClean="0"/>
              <a:t>ouput</a:t>
            </a:r>
            <a:r>
              <a:rPr lang="en-US" dirty="0" smtClean="0"/>
              <a:t> file using AES (128-bit)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356349" y="2405239"/>
            <a:ext cx="228600" cy="419077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248400" y="1962150"/>
            <a:ext cx="678701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010400" y="1352550"/>
            <a:ext cx="13088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RSA key size</a:t>
            </a:r>
            <a:endParaRPr lang="en-US" dirty="0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934199" y="1733550"/>
            <a:ext cx="381001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36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170940"/>
            <a:ext cx="7848601" cy="791210"/>
          </a:xfrm>
        </p:spPr>
        <p:txBody>
          <a:bodyPr>
            <a:normAutofit/>
          </a:bodyPr>
          <a:lstStyle/>
          <a:p>
            <a:pPr marL="367903" indent="-285750"/>
            <a:r>
              <a:rPr lang="en-US" sz="2200" dirty="0" smtClean="0"/>
              <a:t>Step </a:t>
            </a:r>
            <a:r>
              <a:rPr lang="en-US" sz="2200" dirty="0"/>
              <a:t>2: Generate </a:t>
            </a:r>
            <a:r>
              <a:rPr lang="en-US" sz="2200" dirty="0" smtClean="0"/>
              <a:t>a certificate </a:t>
            </a:r>
            <a:r>
              <a:rPr lang="en-US" sz="2200" dirty="0"/>
              <a:t>signing </a:t>
            </a:r>
            <a:r>
              <a:rPr lang="en-US" sz="2200" dirty="0" smtClean="0"/>
              <a:t>request (CSR); identity information needs to be provided</a:t>
            </a:r>
            <a:endParaRPr lang="en-US" sz="2200" dirty="0"/>
          </a:p>
          <a:p>
            <a:pPr marL="82153" indent="0" algn="just">
              <a:buNone/>
            </a:pPr>
            <a:endParaRPr lang="en-US" sz="1500" dirty="0" smtClean="0"/>
          </a:p>
          <a:p>
            <a:pPr marL="82153" indent="0" algn="just">
              <a:buNone/>
            </a:pPr>
            <a:endParaRPr lang="en-US" sz="1500" dirty="0"/>
          </a:p>
          <a:p>
            <a:pPr marL="82153" indent="0" algn="just">
              <a:buNone/>
            </a:pPr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24143"/>
            <a:ext cx="7086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 smtClean="0"/>
              <a:t>Get a Certificate from CA: Step 2</a:t>
            </a:r>
            <a:endParaRPr lang="en-US" sz="3200" dirty="0"/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39" y="2190750"/>
            <a:ext cx="7308213" cy="266723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39" y="2800350"/>
            <a:ext cx="7318373" cy="14196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6639" y="4378226"/>
            <a:ext cx="4072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CA will verify this subject information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133600" y="4019550"/>
            <a:ext cx="152400" cy="304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86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6493"/>
            <a:ext cx="6172200" cy="857250"/>
          </a:xfrm>
        </p:spPr>
        <p:txBody>
          <a:bodyPr>
            <a:normAutofit/>
          </a:bodyPr>
          <a:lstStyle/>
          <a:p>
            <a:pPr marL="82153" algn="just"/>
            <a:r>
              <a:rPr lang="en-US" sz="3200" dirty="0" smtClean="0"/>
              <a:t>CA: Issuing X.509 Certificate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4462"/>
            <a:ext cx="7924800" cy="3562350"/>
          </a:xfrm>
        </p:spPr>
        <p:txBody>
          <a:bodyPr>
            <a:normAutofit/>
          </a:bodyPr>
          <a:lstStyle/>
          <a:p>
            <a:pPr marL="339328" algn="just"/>
            <a:r>
              <a:rPr lang="en-US" sz="2200" dirty="0"/>
              <a:t>W</a:t>
            </a:r>
            <a:r>
              <a:rPr lang="en-US" sz="2200" dirty="0" smtClean="0"/>
              <a:t>e (the bank) need to send the CSR file to </a:t>
            </a:r>
            <a:r>
              <a:rPr lang="en-US" sz="2200" dirty="0" err="1" smtClean="0"/>
              <a:t>ModelCA</a:t>
            </a:r>
            <a:r>
              <a:rPr lang="en-US" sz="2200" dirty="0" smtClean="0"/>
              <a:t>.</a:t>
            </a:r>
          </a:p>
          <a:p>
            <a:pPr marL="339328" algn="just"/>
            <a:r>
              <a:rPr lang="en-US" sz="2200" dirty="0" err="1" smtClean="0"/>
              <a:t>ModelCA</a:t>
            </a:r>
            <a:r>
              <a:rPr lang="en-US" sz="2200" dirty="0" smtClean="0"/>
              <a:t> will verify that we are the actual owner  of (or can represent) the identity specified in the CSR file.</a:t>
            </a:r>
          </a:p>
          <a:p>
            <a:pPr marL="339328" algn="just"/>
            <a:r>
              <a:rPr lang="en-US" sz="2200" dirty="0" smtClean="0"/>
              <a:t>If the verification is successful, </a:t>
            </a:r>
            <a:r>
              <a:rPr lang="en-US" sz="2200" dirty="0" err="1" smtClean="0"/>
              <a:t>ModelCA</a:t>
            </a:r>
            <a:r>
              <a:rPr lang="en-US" sz="2200" dirty="0" smtClean="0"/>
              <a:t> issues a certificate</a:t>
            </a:r>
          </a:p>
          <a:p>
            <a:pPr marL="82153" indent="0" algn="just">
              <a:buNone/>
            </a:pPr>
            <a:endParaRPr lang="en-US" sz="1500" dirty="0"/>
          </a:p>
          <a:p>
            <a:pPr marL="82153" indent="0" algn="just">
              <a:buNone/>
            </a:pPr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82153" indent="0" algn="just">
              <a:buNone/>
            </a:pPr>
            <a:endParaRPr lang="en-US" sz="1500" dirty="0"/>
          </a:p>
          <a:p>
            <a:pPr marL="339328" algn="just"/>
            <a:endParaRPr lang="en-US" sz="1500" dirty="0"/>
          </a:p>
          <a:p>
            <a:pPr marL="339328" algn="just"/>
            <a:endParaRPr lang="en-US" sz="1500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200" i="1" dirty="0"/>
          </a:p>
          <a:p>
            <a:pPr marL="82153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511969" indent="-255985" algn="just"/>
            <a:endParaRPr lang="en-US" sz="1500" dirty="0"/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605302"/>
            <a:ext cx="7467600" cy="502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24036" y="2890278"/>
            <a:ext cx="12859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CSR file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24400" y="2890278"/>
            <a:ext cx="38479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The X.509 certificate will be saved here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824564" y="3334969"/>
            <a:ext cx="271436" cy="2703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081364" y="3297289"/>
            <a:ext cx="304800" cy="3080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27093" y="4425688"/>
            <a:ext cx="32313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ModelCA’s self-signed certificate</a:t>
            </a:r>
            <a:endParaRPr lang="en-US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3810000" y="4108071"/>
            <a:ext cx="228600" cy="3080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62751" y="4406781"/>
            <a:ext cx="224959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ModelCA’s private key</a:t>
            </a:r>
            <a:endParaRPr lang="en-US" dirty="0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858000" y="4108071"/>
            <a:ext cx="228600" cy="2505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54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6" y="133350"/>
            <a:ext cx="8153400" cy="85725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Root and Intermediate Certificate Authorities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604028"/>
            <a:ext cx="5488518" cy="315623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506" y="1261128"/>
            <a:ext cx="4979894" cy="685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There are many </a:t>
            </a:r>
            <a:r>
              <a:rPr lang="en-US" sz="2000" dirty="0" smtClean="0"/>
              <a:t>CAs </a:t>
            </a:r>
            <a:r>
              <a:rPr lang="en-US" sz="2000" dirty="0"/>
              <a:t>in the real world, and they are organized in a </a:t>
            </a:r>
            <a:r>
              <a:rPr lang="en-US" sz="2000" dirty="0" smtClean="0"/>
              <a:t>hierarchical structure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26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7848600" cy="857250"/>
          </a:xfrm>
        </p:spPr>
        <p:txBody>
          <a:bodyPr>
            <a:noAutofit/>
          </a:bodyPr>
          <a:lstStyle/>
          <a:p>
            <a:pPr marL="82153" algn="l"/>
            <a:r>
              <a:rPr lang="en-US" sz="3200" dirty="0"/>
              <a:t>Root CAs and Self-Signed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00150"/>
            <a:ext cx="8077200" cy="3429000"/>
          </a:xfrm>
        </p:spPr>
        <p:txBody>
          <a:bodyPr>
            <a:normAutofit/>
          </a:bodyPr>
          <a:lstStyle/>
          <a:p>
            <a:pPr marL="255588" indent="-255588" algn="just"/>
            <a:r>
              <a:rPr lang="en-US" sz="2000" dirty="0"/>
              <a:t>A root CA’s public key is also stored in an X.509 certificate. It is self-signed.</a:t>
            </a:r>
          </a:p>
          <a:p>
            <a:pPr marL="255588" indent="-255588" algn="just"/>
            <a:r>
              <a:rPr lang="en-US" sz="2000" dirty="0" smtClean="0"/>
              <a:t>Self-signed: the </a:t>
            </a:r>
            <a:r>
              <a:rPr lang="en-US" sz="2000" dirty="0"/>
              <a:t>entries for the issuer and the subject are </a:t>
            </a:r>
            <a:r>
              <a:rPr lang="en-US" sz="2000" dirty="0" smtClean="0"/>
              <a:t>identical.</a:t>
            </a:r>
          </a:p>
          <a:p>
            <a:pPr marL="0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endParaRPr lang="en-US" sz="2000" dirty="0" smtClean="0"/>
          </a:p>
          <a:p>
            <a:pPr marL="0" indent="0" algn="just">
              <a:buNone/>
            </a:pPr>
            <a:endParaRPr lang="en-US" sz="2000" dirty="0" smtClean="0"/>
          </a:p>
          <a:p>
            <a:pPr marL="255588" indent="-255588" algn="just"/>
            <a:r>
              <a:rPr lang="en-US" sz="2000" dirty="0" smtClean="0"/>
              <a:t>How can they be trusted?</a:t>
            </a:r>
          </a:p>
          <a:p>
            <a:pPr marL="555626" lvl="1" indent="-255588" algn="just"/>
            <a:r>
              <a:rPr lang="en-US" sz="1700" dirty="0" smtClean="0"/>
              <a:t>Public </a:t>
            </a:r>
            <a:r>
              <a:rPr lang="en-US" sz="1700" dirty="0"/>
              <a:t>keys of root CAs are pre-installed in the OS, browsers and other </a:t>
            </a:r>
            <a:r>
              <a:rPr lang="en-US" sz="1700" dirty="0" smtClean="0"/>
              <a:t>software</a:t>
            </a:r>
            <a:endParaRPr lang="en-US" sz="17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250" y="2038350"/>
            <a:ext cx="6812870" cy="1249788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1219200" y="2114550"/>
            <a:ext cx="381000" cy="15240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1219200" y="2663244"/>
            <a:ext cx="381000" cy="15240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/>
          <p:cNvSpPr/>
          <p:nvPr/>
        </p:nvSpPr>
        <p:spPr>
          <a:xfrm>
            <a:off x="955630" y="2171700"/>
            <a:ext cx="152990" cy="591874"/>
          </a:xfrm>
          <a:prstGeom prst="leftBrace">
            <a:avLst>
              <a:gd name="adj1" fmla="val 25000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6200000">
            <a:off x="472396" y="2301890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Same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65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3350"/>
            <a:ext cx="7467600" cy="857250"/>
          </a:xfrm>
        </p:spPr>
        <p:txBody>
          <a:bodyPr>
            <a:noAutofit/>
          </a:bodyPr>
          <a:lstStyle/>
          <a:p>
            <a:pPr marL="82153" algn="just"/>
            <a:r>
              <a:rPr lang="en-US" sz="3200" dirty="0"/>
              <a:t>Intermediate CAs and Chain of Trust 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2133600" y="1123950"/>
            <a:ext cx="6096000" cy="3066642"/>
            <a:chOff x="1371600" y="1327150"/>
            <a:chExt cx="6096000" cy="3124200"/>
          </a:xfrm>
        </p:grpSpPr>
        <p:pic>
          <p:nvPicPr>
            <p:cNvPr id="5" name="Picture 4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1600" y="1327150"/>
              <a:ext cx="6096000" cy="31242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606689" y="2114550"/>
              <a:ext cx="1773335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err="1" smtClean="0">
                  <a:solidFill>
                    <a:srgbClr val="FF0000"/>
                  </a:solidFill>
                </a:rPr>
                <a:t>Paypal’s</a:t>
              </a:r>
              <a:r>
                <a:rPr lang="en-US" sz="1600" dirty="0" smtClean="0">
                  <a:solidFill>
                    <a:srgbClr val="FF0000"/>
                  </a:solidFill>
                </a:rPr>
                <a:t> certificate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80111" y="3486150"/>
              <a:ext cx="266943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</a:rPr>
                <a:t>Intermediate CA’s certificate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600200" y="2500567"/>
            <a:ext cx="533400" cy="1295400"/>
            <a:chOff x="1524000" y="2647950"/>
            <a:chExt cx="533400" cy="1295400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1524000" y="3943350"/>
              <a:ext cx="5334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1524000" y="2647950"/>
              <a:ext cx="0" cy="129540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1524000" y="2647950"/>
              <a:ext cx="5334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719735" y="2702308"/>
            <a:ext cx="9160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is used to verify B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785891" y="219234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804523" y="345530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2079" y="4229101"/>
            <a:ext cx="5050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Something else is need to verify A (certificate from another intermediate CA or root CA)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1646507" y="4413767"/>
            <a:ext cx="44908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635760" y="3948367"/>
            <a:ext cx="0" cy="4654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1625600" y="3948367"/>
            <a:ext cx="48647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97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3350"/>
            <a:ext cx="7543800" cy="857250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/>
              <a:t>Manually Verifying a Certificate Chain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74750"/>
            <a:ext cx="8153400" cy="1244600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Paypal.pem</a:t>
            </a:r>
            <a:r>
              <a:rPr lang="en-US" sz="2000" dirty="0" smtClean="0"/>
              <a:t>: Save </a:t>
            </a:r>
            <a:r>
              <a:rPr lang="en-US" sz="2000" dirty="0"/>
              <a:t>Paypal’s certificate to a file </a:t>
            </a:r>
            <a:r>
              <a:rPr lang="en-US" sz="2000" dirty="0" smtClean="0"/>
              <a:t>called</a:t>
            </a:r>
          </a:p>
          <a:p>
            <a:r>
              <a:rPr lang="en-US" sz="2000" dirty="0" smtClean="0"/>
              <a:t>Symatec-g3.pem: Save </a:t>
            </a:r>
            <a:r>
              <a:rPr lang="en-US" sz="2000" dirty="0"/>
              <a:t>certificate from “Symantec Class 3 EV SSL CA – G3</a:t>
            </a:r>
            <a:r>
              <a:rPr lang="en-US" sz="2000" dirty="0" smtClean="0"/>
              <a:t>”</a:t>
            </a:r>
          </a:p>
          <a:p>
            <a:r>
              <a:rPr lang="en-US" sz="2000" dirty="0" smtClean="0"/>
              <a:t>VeriSign-G5.pem: Save </a:t>
            </a:r>
            <a:r>
              <a:rPr lang="en-US" sz="2000" dirty="0"/>
              <a:t>the VeriSign-G5’s certificate from the browser </a:t>
            </a:r>
            <a:endParaRPr lang="en-US" sz="1500" dirty="0">
              <a:solidFill>
                <a:srgbClr val="FF0000"/>
              </a:solidFill>
            </a:endParaRPr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29AD4-9D02-4BCE-A52E-136C46C21F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6" t="50000" r="18333" b="42000"/>
          <a:stretch/>
        </p:blipFill>
        <p:spPr>
          <a:xfrm>
            <a:off x="533400" y="3109412"/>
            <a:ext cx="8001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0600" y="2378829"/>
            <a:ext cx="20532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Root CA’s certificate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 rot="8857084" flipV="1">
            <a:off x="5123231" y="2883312"/>
            <a:ext cx="457200" cy="199340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76800" y="4251632"/>
            <a:ext cx="2044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Chain of certificates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800600" y="3714750"/>
            <a:ext cx="30480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Arrow 9"/>
          <p:cNvSpPr/>
          <p:nvPr/>
        </p:nvSpPr>
        <p:spPr>
          <a:xfrm rot="16200000" flipV="1">
            <a:off x="5731857" y="3916501"/>
            <a:ext cx="410011" cy="165874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2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61722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How PKI Defeats the MITM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23950"/>
            <a:ext cx="8077200" cy="321945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 smtClean="0"/>
              <a:t>Assume </a:t>
            </a:r>
            <a:r>
              <a:rPr lang="en-US" sz="2200" dirty="0"/>
              <a:t>that Alice </a:t>
            </a:r>
            <a:r>
              <a:rPr lang="en-US" sz="2200" dirty="0" smtClean="0"/>
              <a:t>wants </a:t>
            </a:r>
            <a:r>
              <a:rPr lang="en-US" sz="2200" dirty="0"/>
              <a:t>to visit </a:t>
            </a:r>
            <a:r>
              <a:rPr lang="en-US" sz="2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https://example.com</a:t>
            </a: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200" dirty="0" smtClean="0"/>
              <a:t>When the server sends its public key to Alice, an attacker intercepts the communication. The </a:t>
            </a:r>
            <a:r>
              <a:rPr lang="en-US" sz="2200" dirty="0"/>
              <a:t>attacker can do the following things: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Attacker forwards the authentic certificate from example.com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Attacker creates a fake certificate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Attacker sends his/her own certificate to </a:t>
            </a:r>
            <a:r>
              <a:rPr lang="en-US" sz="2000" dirty="0" smtClean="0"/>
              <a:t>Alice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019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7772400" cy="85725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Attacker Forwards the Authentic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76" y="1200150"/>
            <a:ext cx="8045824" cy="3676650"/>
          </a:xfrm>
        </p:spPr>
        <p:txBody>
          <a:bodyPr>
            <a:normAutofit/>
          </a:bodyPr>
          <a:lstStyle/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dirty="0" smtClean="0"/>
              <a:t>Attacker (Mike) forwards the authentic certificate</a:t>
            </a:r>
          </a:p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dirty="0" smtClean="0"/>
              <a:t>Alice sends to the server a </a:t>
            </a:r>
            <a:r>
              <a:rPr lang="en-US" sz="2200" dirty="0" smtClean="0">
                <a:solidFill>
                  <a:srgbClr val="FF0000"/>
                </a:solidFill>
              </a:rPr>
              <a:t>secret</a:t>
            </a:r>
            <a:r>
              <a:rPr lang="en-US" sz="2200" dirty="0" smtClean="0"/>
              <a:t>, encrypted using the public key. </a:t>
            </a:r>
            <a:endParaRPr lang="en-US" sz="2200" dirty="0"/>
          </a:p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dirty="0" smtClean="0"/>
              <a:t>The </a:t>
            </a:r>
            <a:r>
              <a:rPr lang="en-US" sz="2200" dirty="0" smtClean="0">
                <a:solidFill>
                  <a:srgbClr val="FF0000"/>
                </a:solidFill>
              </a:rPr>
              <a:t>secret</a:t>
            </a:r>
            <a:r>
              <a:rPr lang="en-US" sz="2200" dirty="0" smtClean="0"/>
              <a:t> </a:t>
            </a:r>
            <a:r>
              <a:rPr lang="en-US" sz="2200" dirty="0"/>
              <a:t>is used for establishing an encrypted channel between Alice and </a:t>
            </a:r>
            <a:r>
              <a:rPr lang="en-US" sz="2200" dirty="0" smtClean="0"/>
              <a:t>server</a:t>
            </a:r>
          </a:p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dirty="0" smtClean="0"/>
              <a:t>Mike </a:t>
            </a:r>
            <a:r>
              <a:rPr lang="en-US" sz="2200" dirty="0"/>
              <a:t>doesn’t know the corresponding private </a:t>
            </a:r>
            <a:r>
              <a:rPr lang="en-US" sz="2200" dirty="0" smtClean="0"/>
              <a:t>key, so he cannot find the </a:t>
            </a:r>
            <a:r>
              <a:rPr lang="en-US" sz="2200" dirty="0" smtClean="0">
                <a:solidFill>
                  <a:srgbClr val="FF0000"/>
                </a:solidFill>
              </a:rPr>
              <a:t>secret</a:t>
            </a:r>
            <a:r>
              <a:rPr lang="en-US" sz="2200" dirty="0" smtClean="0"/>
              <a:t>.</a:t>
            </a:r>
            <a:endParaRPr lang="en-US" sz="2200" dirty="0"/>
          </a:p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dirty="0" smtClean="0"/>
              <a:t>Mike </a:t>
            </a:r>
            <a:r>
              <a:rPr lang="en-US" sz="2200" dirty="0"/>
              <a:t>can’t do much </a:t>
            </a:r>
            <a:r>
              <a:rPr lang="en-US" sz="2200" dirty="0" smtClean="0"/>
              <a:t>to the communication, except </a:t>
            </a:r>
            <a:r>
              <a:rPr lang="en-US" sz="2200" dirty="0"/>
              <a:t>for </a:t>
            </a:r>
            <a:r>
              <a:rPr lang="en-US" sz="2200" dirty="0" err="1" smtClean="0"/>
              <a:t>DoS</a:t>
            </a:r>
            <a:r>
              <a:rPr lang="en-US" sz="2200" dirty="0"/>
              <a:t>.</a:t>
            </a:r>
          </a:p>
          <a:p>
            <a:pPr marL="255588" indent="-255588" algn="just">
              <a:spcBef>
                <a:spcPts val="0"/>
              </a:spcBef>
              <a:spcAft>
                <a:spcPts val="1000"/>
              </a:spcAft>
            </a:pPr>
            <a:r>
              <a:rPr lang="en-US" sz="2200" b="1" dirty="0"/>
              <a:t>MITM attack fails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2252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50"/>
            <a:ext cx="6172200" cy="857250"/>
          </a:xfrm>
        </p:spPr>
        <p:txBody>
          <a:bodyPr>
            <a:normAutofit/>
          </a:bodyPr>
          <a:lstStyle/>
          <a:p>
            <a:r>
              <a:rPr lang="en-US" sz="3200" dirty="0"/>
              <a:t>Attacker Creates a Fake 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47750"/>
            <a:ext cx="8077200" cy="3905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25" b="1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dirty="0" smtClean="0"/>
              <a:t>Attacker (Mike) creates </a:t>
            </a:r>
            <a:r>
              <a:rPr lang="en-US" sz="2200" dirty="0"/>
              <a:t>fraudulent certificate for the example.com </a:t>
            </a:r>
            <a:r>
              <a:rPr lang="en-US" sz="2200" dirty="0" smtClean="0"/>
              <a:t>domain.</a:t>
            </a:r>
            <a:endParaRPr lang="en-US" sz="2200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dirty="0" smtClean="0"/>
              <a:t>Mike replaces the server’s public with his </a:t>
            </a:r>
            <a:r>
              <a:rPr lang="en-US" sz="2200" dirty="0"/>
              <a:t>own public </a:t>
            </a:r>
            <a:r>
              <a:rPr lang="en-US" sz="2200" dirty="0" smtClean="0"/>
              <a:t>key.</a:t>
            </a:r>
            <a:endParaRPr lang="en-US" sz="2200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dirty="0"/>
              <a:t>Trusted CAs will not sign </a:t>
            </a:r>
            <a:r>
              <a:rPr lang="en-US" sz="2200" dirty="0" smtClean="0"/>
              <a:t>Mike’s </a:t>
            </a:r>
            <a:r>
              <a:rPr lang="en-US" sz="2200" dirty="0"/>
              <a:t>certificate request as </a:t>
            </a:r>
            <a:r>
              <a:rPr lang="en-US" sz="2200" dirty="0" smtClean="0"/>
              <a:t>he does </a:t>
            </a:r>
            <a:r>
              <a:rPr lang="en-US" sz="2200" dirty="0"/>
              <a:t>not own </a:t>
            </a:r>
            <a:r>
              <a:rPr lang="en-US" sz="2200" dirty="0" smtClean="0"/>
              <a:t>example.com.</a:t>
            </a:r>
            <a:endParaRPr lang="en-US" sz="2200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dirty="0" smtClean="0"/>
              <a:t>Mike </a:t>
            </a:r>
            <a:r>
              <a:rPr lang="en-US" sz="2200" dirty="0"/>
              <a:t>can sign the fraudulent certificate by </a:t>
            </a:r>
            <a:r>
              <a:rPr lang="en-US" sz="2200" dirty="0" smtClean="0"/>
              <a:t>himself </a:t>
            </a:r>
            <a:r>
              <a:rPr lang="en-US" sz="2200" dirty="0"/>
              <a:t>and create a self-signed </a:t>
            </a:r>
            <a:r>
              <a:rPr lang="en-US" sz="2200" dirty="0" smtClean="0"/>
              <a:t>certificate.</a:t>
            </a:r>
            <a:endParaRPr lang="en-US" sz="2200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dirty="0"/>
              <a:t>Alice’s browser will not find any trusted certificate to verify the received certificate and will give the following warning:</a:t>
            </a:r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endParaRPr lang="en-US" sz="22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200" dirty="0"/>
          </a:p>
          <a:p>
            <a:pPr marL="255588" indent="-255588">
              <a:spcBef>
                <a:spcPts val="0"/>
              </a:spcBef>
              <a:spcAft>
                <a:spcPts val="600"/>
              </a:spcAft>
            </a:pPr>
            <a:r>
              <a:rPr lang="en-US" sz="2200" b="1" dirty="0"/>
              <a:t>MITM attack fails </a:t>
            </a:r>
            <a:r>
              <a:rPr lang="en-US" sz="2200" dirty="0"/>
              <a:t>if the user decide to terminate the connection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1CFB25-4AE3-4FDD-83DE-4EED26BD6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99" t="32667" r="28334" b="62000"/>
          <a:stretch/>
        </p:blipFill>
        <p:spPr>
          <a:xfrm>
            <a:off x="838200" y="3790950"/>
            <a:ext cx="67627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2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975"/>
            <a:ext cx="8153400" cy="85725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Attacker Sends </a:t>
            </a:r>
            <a:r>
              <a:rPr lang="en-US" sz="3200" dirty="0" err="1" smtClean="0"/>
              <a:t>His/Her</a:t>
            </a:r>
            <a:r>
              <a:rPr lang="en-US" sz="3200" dirty="0" smtClean="0"/>
              <a:t> </a:t>
            </a:r>
            <a:r>
              <a:rPr lang="en-US" sz="3200" dirty="0"/>
              <a:t>Own </a:t>
            </a:r>
            <a:r>
              <a:rPr lang="en-US" sz="3200" dirty="0" smtClean="0"/>
              <a:t>Certificate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82" y="2724150"/>
            <a:ext cx="8001000" cy="21431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5" b="1" dirty="0"/>
          </a:p>
          <a:p>
            <a:pPr marL="255588" indent="-255588"/>
            <a:r>
              <a:rPr lang="en-US" sz="2200" dirty="0" smtClean="0"/>
              <a:t>Attacker’s </a:t>
            </a:r>
            <a:r>
              <a:rPr lang="en-US" sz="2200" dirty="0"/>
              <a:t>c</a:t>
            </a:r>
            <a:r>
              <a:rPr lang="en-US" sz="2200" dirty="0" smtClean="0"/>
              <a:t>ertificate is valid. </a:t>
            </a:r>
          </a:p>
          <a:p>
            <a:pPr marL="255588" indent="-255588"/>
            <a:r>
              <a:rPr lang="en-US" sz="2200" dirty="0" smtClean="0"/>
              <a:t>Browser </a:t>
            </a:r>
            <a:r>
              <a:rPr lang="en-US" sz="2200" dirty="0"/>
              <a:t>checks if the </a:t>
            </a:r>
            <a:r>
              <a:rPr lang="en-US" sz="2200" dirty="0" smtClean="0"/>
              <a:t>identity specified in </a:t>
            </a:r>
            <a:r>
              <a:rPr lang="en-US" sz="2200" dirty="0"/>
              <a:t>the subject field of </a:t>
            </a:r>
            <a:r>
              <a:rPr lang="en-US" sz="2200" dirty="0" smtClean="0"/>
              <a:t>the certificate </a:t>
            </a:r>
            <a:r>
              <a:rPr lang="en-US" sz="2200" dirty="0"/>
              <a:t>matches the </a:t>
            </a:r>
            <a:r>
              <a:rPr lang="en-US" sz="2200" dirty="0" smtClean="0"/>
              <a:t>Alice’s intent.</a:t>
            </a:r>
          </a:p>
          <a:p>
            <a:pPr marL="555626" lvl="1" indent="-255588" algn="just"/>
            <a:r>
              <a:rPr lang="en-US" sz="1900" dirty="0" smtClean="0"/>
              <a:t>There is a mismatch:  </a:t>
            </a:r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</a:rPr>
              <a:t>attacker.com</a:t>
            </a:r>
            <a:r>
              <a:rPr lang="en-US" sz="19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≠</a:t>
            </a:r>
            <a:r>
              <a:rPr lang="en-US" sz="2400" dirty="0" smtClean="0"/>
              <a:t> </a:t>
            </a:r>
            <a:r>
              <a:rPr lang="en-US" sz="1900" dirty="0" smtClean="0">
                <a:solidFill>
                  <a:srgbClr val="0070C0"/>
                </a:solidFill>
              </a:rPr>
              <a:t>example.com</a:t>
            </a:r>
            <a:endParaRPr lang="en-US" sz="1900" dirty="0">
              <a:solidFill>
                <a:srgbClr val="0070C0"/>
              </a:solidFill>
            </a:endParaRPr>
          </a:p>
          <a:p>
            <a:pPr marL="255588" indent="-255588" algn="just"/>
            <a:r>
              <a:rPr lang="en-US" sz="2200" dirty="0" smtClean="0"/>
              <a:t>Browser </a:t>
            </a:r>
            <a:r>
              <a:rPr lang="en-US" sz="2200" dirty="0"/>
              <a:t>terminates handshake </a:t>
            </a:r>
            <a:r>
              <a:rPr lang="en-US" sz="2200" dirty="0" smtClean="0"/>
              <a:t>protocol: </a:t>
            </a:r>
            <a:r>
              <a:rPr lang="en-US" sz="2200" b="1" dirty="0" smtClean="0"/>
              <a:t>MITM fails</a:t>
            </a:r>
            <a:endParaRPr lang="en-US" sz="1500" dirty="0">
              <a:solidFill>
                <a:srgbClr val="FF0000"/>
              </a:solidFill>
            </a:endParaRPr>
          </a:p>
          <a:p>
            <a:pPr marL="255984" indent="0" algn="just">
              <a:buNone/>
            </a:pPr>
            <a:endParaRPr lang="en-US" sz="15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E2664-30AB-45BC-8F4E-2E666A11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50000" r="31667" b="30000"/>
          <a:stretch/>
        </p:blipFill>
        <p:spPr>
          <a:xfrm>
            <a:off x="1094460" y="1047750"/>
            <a:ext cx="6878880" cy="169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0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</TotalTime>
  <Words>1770</Words>
  <Application>Microsoft Office PowerPoint</Application>
  <PresentationFormat>عرض على الشاشة (16:9)</PresentationFormat>
  <Paragraphs>248</Paragraphs>
  <Slides>25</Slides>
  <Notes>17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Public Key Infrastructure</vt:lpstr>
      <vt:lpstr>Public Key Cryptography</vt:lpstr>
      <vt:lpstr>Man-in-the-Middle (MITM) Attack</vt:lpstr>
      <vt:lpstr>What Is the Fundamental Problem?</vt:lpstr>
      <vt:lpstr>Digital Signature</vt:lpstr>
      <vt:lpstr>Defeating MITM Attacks using Digital Signature </vt:lpstr>
      <vt:lpstr>Public Key Infrastructure</vt:lpstr>
      <vt:lpstr>Digital Certificate</vt:lpstr>
      <vt:lpstr>Example of X.509 Certificate (1st Part)</vt:lpstr>
      <vt:lpstr>Example of X.509 Certificate (2nd Part)</vt:lpstr>
      <vt:lpstr>The Core Functionalities of CA</vt:lpstr>
      <vt:lpstr>Being a Certificate Authority</vt:lpstr>
      <vt:lpstr>CA Setup</vt:lpstr>
      <vt:lpstr>Discussion Question</vt:lpstr>
      <vt:lpstr>Get a Certificate from CA: Step 1</vt:lpstr>
      <vt:lpstr>عرض تقديمي في PowerPoint</vt:lpstr>
      <vt:lpstr>CA: Issuing X.509 Certificate</vt:lpstr>
      <vt:lpstr>Root and Intermediate Certificate Authorities</vt:lpstr>
      <vt:lpstr>Root CAs and Self-Signed Certificate</vt:lpstr>
      <vt:lpstr>Intermediate CAs and Chain of Trust </vt:lpstr>
      <vt:lpstr>Manually Verifying a Certificate Chain</vt:lpstr>
      <vt:lpstr>How PKI Defeats the MITM Attack</vt:lpstr>
      <vt:lpstr>Attacker Forwards the Authentic Certificate</vt:lpstr>
      <vt:lpstr>Attacker Creates a Fake Certificate</vt:lpstr>
      <vt:lpstr>Attacker Sends His/Her Own Certificate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Key Infrastructure</dc:title>
  <dc:creator>3shna</dc:creator>
  <cp:lastModifiedBy>user</cp:lastModifiedBy>
  <cp:revision>196</cp:revision>
  <dcterms:created xsi:type="dcterms:W3CDTF">2017-11-24T17:20:16Z</dcterms:created>
  <dcterms:modified xsi:type="dcterms:W3CDTF">2025-11-02T20:59:09Z</dcterms:modified>
</cp:coreProperties>
</file>