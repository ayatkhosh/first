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9" r:id="rId3"/>
    <p:sldId id="269" r:id="rId4"/>
    <p:sldId id="270" r:id="rId5"/>
    <p:sldId id="275" r:id="rId6"/>
    <p:sldId id="276" r:id="rId7"/>
    <p:sldId id="277" r:id="rId8"/>
    <p:sldId id="278" r:id="rId9"/>
    <p:sldId id="279" r:id="rId10"/>
    <p:sldId id="280" r:id="rId1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79218697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0117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4e5b30df09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4e5b30df09_0_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g4e5b30df09_0_3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804980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4e5b30df09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4e5b30df09_0_1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g4e5b30df09_0_13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070957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4e5b30df09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4e5b30df09_0_1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g4e5b30df09_0_14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368300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4e6acf7a71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4e6acf7a71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4e6acf7a71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443710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4e6acf7a71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4e6acf7a71_0_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g4e6acf7a71_0_3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85354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4e6acf7a71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4e6acf7a71_0_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g4e6acf7a71_0_4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3905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4e6acf7a71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4e6acf7a71_0_6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g4e6acf7a71_0_6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009180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4e6acf7a7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4e6acf7a71_0_7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g4e6acf7a71_0_7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901141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4e6acf7a71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4e6acf7a71_0_8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g4e6acf7a71_0_8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69406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/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5970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/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/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/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/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/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/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>
            <a:spLocks noGrp="1"/>
          </p:cNvSpPr>
          <p:nvPr>
            <p:ph type="ctrTitle"/>
          </p:nvPr>
        </p:nvSpPr>
        <p:spPr>
          <a:xfrm>
            <a:off x="1653050" y="2444849"/>
            <a:ext cx="9144000" cy="1376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lang="en-US" dirty="0"/>
              <a:t>Public Key Cryptography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Outline</a:t>
            </a:r>
            <a:endParaRPr/>
          </a:p>
        </p:txBody>
      </p:sp>
      <p:sp>
        <p:nvSpPr>
          <p:cNvPr id="109" name="Google Shape;109;p16"/>
          <p:cNvSpPr txBox="1">
            <a:spLocks noGrp="1"/>
          </p:cNvSpPr>
          <p:nvPr>
            <p:ph type="body" idx="1"/>
          </p:nvPr>
        </p:nvSpPr>
        <p:spPr>
          <a:xfrm>
            <a:off x="838200" y="1597025"/>
            <a:ext cx="10515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4064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2800"/>
              <a:buChar char="•"/>
            </a:pPr>
            <a:r>
              <a:rPr lang="en-US" dirty="0"/>
              <a:t>Public-key </a:t>
            </a:r>
            <a:r>
              <a:rPr lang="en-US" dirty="0" smtClean="0"/>
              <a:t>algorithms</a:t>
            </a:r>
            <a:endParaRPr dirty="0" smtClean="0"/>
          </a:p>
          <a:p>
            <a:pPr marL="914400" lvl="1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Char char="•"/>
            </a:pPr>
            <a:r>
              <a:rPr lang="en-US" dirty="0" smtClean="0"/>
              <a:t>RSA algorithm</a:t>
            </a:r>
            <a:endParaRPr dirty="0" smtClean="0"/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RSA Algorithm</a:t>
            </a:r>
            <a:endParaRPr/>
          </a:p>
        </p:txBody>
      </p:sp>
      <p:sp>
        <p:nvSpPr>
          <p:cNvPr id="183" name="Google Shape;183;p26"/>
          <p:cNvSpPr txBox="1">
            <a:spLocks noGrp="1"/>
          </p:cNvSpPr>
          <p:nvPr>
            <p:ph type="body" idx="1"/>
          </p:nvPr>
        </p:nvSpPr>
        <p:spPr>
          <a:xfrm>
            <a:off x="838200" y="1597025"/>
            <a:ext cx="10515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We will cover:</a:t>
            </a:r>
            <a:endParaRPr/>
          </a:p>
          <a:p>
            <a:pPr marL="457200" lvl="0" indent="-4064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Key generation</a:t>
            </a:r>
            <a:endParaRPr/>
          </a:p>
          <a:p>
            <a:pPr marL="457200" lvl="0" indent="-4064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Encryption</a:t>
            </a:r>
            <a:endParaRPr/>
          </a:p>
          <a:p>
            <a:pPr marL="457200" lvl="0" indent="-4064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Decryption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RSA: Key Generation</a:t>
            </a:r>
            <a:endParaRPr/>
          </a:p>
        </p:txBody>
      </p:sp>
      <p:sp>
        <p:nvSpPr>
          <p:cNvPr id="190" name="Google Shape;190;p27"/>
          <p:cNvSpPr txBox="1">
            <a:spLocks noGrp="1"/>
          </p:cNvSpPr>
          <p:nvPr>
            <p:ph type="body" idx="1"/>
          </p:nvPr>
        </p:nvSpPr>
        <p:spPr>
          <a:xfrm>
            <a:off x="838200" y="1597025"/>
            <a:ext cx="10515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4064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Need to generate: modulus n, public key exponent e, private key exponent d</a:t>
            </a:r>
            <a:endParaRPr/>
          </a:p>
          <a:p>
            <a:pPr marL="457200" lvl="0" indent="-406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Approach</a:t>
            </a:r>
            <a:endParaRPr/>
          </a:p>
          <a:p>
            <a:pPr marL="914400" lvl="1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•"/>
            </a:pPr>
            <a:r>
              <a:rPr lang="en-US"/>
              <a:t>Choose p,q (large random prime numbers)</a:t>
            </a:r>
            <a:endParaRPr/>
          </a:p>
          <a:p>
            <a:pPr marL="914400" lvl="1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•"/>
            </a:pPr>
            <a:r>
              <a:rPr lang="en-US" sz="2200">
                <a:latin typeface="Courier New"/>
                <a:ea typeface="Courier New"/>
                <a:cs typeface="Courier New"/>
                <a:sym typeface="Courier New"/>
              </a:rPr>
              <a:t>n = pq</a:t>
            </a:r>
            <a:r>
              <a:rPr lang="en-US"/>
              <a:t> (should be large)</a:t>
            </a:r>
            <a:endParaRPr/>
          </a:p>
          <a:p>
            <a:pPr marL="914400" lvl="1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•"/>
            </a:pPr>
            <a:r>
              <a:rPr lang="en-US"/>
              <a:t>Choose e, </a:t>
            </a:r>
            <a:r>
              <a:rPr lang="en-US" sz="2200">
                <a:latin typeface="Courier New"/>
                <a:ea typeface="Courier New"/>
                <a:cs typeface="Courier New"/>
                <a:sym typeface="Courier New"/>
              </a:rPr>
              <a:t>1 &lt; e &lt; φ(n) </a:t>
            </a:r>
            <a:r>
              <a:rPr lang="en-US"/>
              <a:t>and e is relatively prime to φ(n)	</a:t>
            </a:r>
            <a:endParaRPr/>
          </a:p>
          <a:p>
            <a:pPr marL="914400" lvl="1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•"/>
            </a:pPr>
            <a:r>
              <a:rPr lang="en-US"/>
              <a:t>Find d, </a:t>
            </a:r>
            <a:r>
              <a:rPr lang="en-US" sz="2200">
                <a:latin typeface="Courier New"/>
                <a:ea typeface="Courier New"/>
                <a:cs typeface="Courier New"/>
                <a:sym typeface="Courier New"/>
              </a:rPr>
              <a:t>ed mod φ(n) = 1</a:t>
            </a:r>
            <a:endParaRPr sz="220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406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Result</a:t>
            </a:r>
            <a:endParaRPr/>
          </a:p>
          <a:p>
            <a:pPr marL="914400" lvl="1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•"/>
            </a:pPr>
            <a:r>
              <a:rPr lang="en-US"/>
              <a:t>(e,n) is public key</a:t>
            </a:r>
            <a:endParaRPr/>
          </a:p>
          <a:p>
            <a:pPr marL="914400" lvl="1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•"/>
            </a:pPr>
            <a:r>
              <a:rPr lang="en-US"/>
              <a:t>d is private key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Hybrid Encryption</a:t>
            </a:r>
            <a:endParaRPr/>
          </a:p>
        </p:txBody>
      </p:sp>
      <p:sp>
        <p:nvSpPr>
          <p:cNvPr id="228" name="Google Shape;228;p32"/>
          <p:cNvSpPr txBox="1">
            <a:spLocks noGrp="1"/>
          </p:cNvSpPr>
          <p:nvPr>
            <p:ph type="body" idx="1"/>
          </p:nvPr>
        </p:nvSpPr>
        <p:spPr>
          <a:xfrm>
            <a:off x="838200" y="1597025"/>
            <a:ext cx="10515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4064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High computation cost of public-key encryption</a:t>
            </a:r>
            <a:endParaRPr/>
          </a:p>
          <a:p>
            <a:pPr marL="457200" lvl="0" indent="-406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Public key algorithms used to exchange a secret session key</a:t>
            </a:r>
            <a:endParaRPr/>
          </a:p>
          <a:p>
            <a:pPr marL="457200" lvl="0" indent="-406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Key (content-encryption key) used to encrypt data using a symmetric-key algorithm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9" name="Google Shape;229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9250" y="3560000"/>
            <a:ext cx="5604000" cy="30068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Using OpenSSL Tools to Conduct RSA Operations</a:t>
            </a:r>
            <a:endParaRPr/>
          </a:p>
        </p:txBody>
      </p:sp>
      <p:sp>
        <p:nvSpPr>
          <p:cNvPr id="236" name="Google Shape;236;p33"/>
          <p:cNvSpPr txBox="1">
            <a:spLocks noGrp="1"/>
          </p:cNvSpPr>
          <p:nvPr>
            <p:ph type="body" idx="1"/>
          </p:nvPr>
        </p:nvSpPr>
        <p:spPr>
          <a:xfrm>
            <a:off x="838200" y="1749425"/>
            <a:ext cx="10515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We will cover:</a:t>
            </a:r>
            <a:endParaRPr/>
          </a:p>
          <a:p>
            <a:pPr marL="457200" lvl="0" indent="-4064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Generating RSA keys</a:t>
            </a:r>
            <a:endParaRPr/>
          </a:p>
          <a:p>
            <a:pPr marL="457200" lvl="0" indent="-4064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Extracting the public key</a:t>
            </a:r>
            <a:endParaRPr/>
          </a:p>
          <a:p>
            <a:pPr marL="457200" lvl="0" indent="-4064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Encryption and Decryption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OpenSSL Tools: Generating RSA keys </a:t>
            </a:r>
            <a:endParaRPr/>
          </a:p>
        </p:txBody>
      </p:sp>
      <p:sp>
        <p:nvSpPr>
          <p:cNvPr id="243" name="Google Shape;243;p34"/>
          <p:cNvSpPr txBox="1">
            <a:spLocks noGrp="1"/>
          </p:cNvSpPr>
          <p:nvPr>
            <p:ph type="body" idx="1"/>
          </p:nvPr>
        </p:nvSpPr>
        <p:spPr>
          <a:xfrm>
            <a:off x="838200" y="1597025"/>
            <a:ext cx="10515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Example: generate a 1024-bit public/private key pair</a:t>
            </a:r>
            <a:endParaRPr/>
          </a:p>
          <a:p>
            <a:pPr marL="457200" lvl="0" indent="-393700" algn="l" rtl="0">
              <a:spcBef>
                <a:spcPts val="1000"/>
              </a:spcBef>
              <a:spcAft>
                <a:spcPts val="0"/>
              </a:spcAft>
              <a:buSzPts val="2600"/>
              <a:buFont typeface="Courier New"/>
              <a:buChar char="•"/>
            </a:pPr>
            <a:r>
              <a:rPr lang="en-US" sz="2600">
                <a:latin typeface="Courier New"/>
                <a:ea typeface="Courier New"/>
                <a:cs typeface="Courier New"/>
                <a:sym typeface="Courier New"/>
              </a:rPr>
              <a:t>openssl genrsa -aes128 -out private.pem 1024</a:t>
            </a:r>
            <a:endParaRPr sz="260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private.pem:  Base64 encoding of DER generated binary output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44" name="Google Shape;244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4413" y="3865363"/>
            <a:ext cx="10239375" cy="1762125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OpenSSL Tools: Generating RSA keys (Contd.)</a:t>
            </a:r>
            <a:endParaRPr/>
          </a:p>
        </p:txBody>
      </p:sp>
      <p:sp>
        <p:nvSpPr>
          <p:cNvPr id="251" name="Google Shape;251;p35"/>
          <p:cNvSpPr txBox="1">
            <a:spLocks noGrp="1"/>
          </p:cNvSpPr>
          <p:nvPr>
            <p:ph type="body" idx="1"/>
          </p:nvPr>
        </p:nvSpPr>
        <p:spPr>
          <a:xfrm>
            <a:off x="838200" y="1597025"/>
            <a:ext cx="10515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Actual content of private.pem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2" name="Google Shape;252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6425" y="2379650"/>
            <a:ext cx="6719151" cy="41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OpenSSL Tools: Extracting Public Key </a:t>
            </a:r>
            <a:endParaRPr/>
          </a:p>
        </p:txBody>
      </p:sp>
      <p:sp>
        <p:nvSpPr>
          <p:cNvPr id="259" name="Google Shape;259;p36"/>
          <p:cNvSpPr txBox="1">
            <a:spLocks noGrp="1"/>
          </p:cNvSpPr>
          <p:nvPr>
            <p:ph type="body" idx="1"/>
          </p:nvPr>
        </p:nvSpPr>
        <p:spPr>
          <a:xfrm>
            <a:off x="838200" y="1597025"/>
            <a:ext cx="10515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937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2600"/>
              <a:buFont typeface="Courier New"/>
              <a:buChar char="•"/>
            </a:pPr>
            <a:r>
              <a:rPr lang="en-US" sz="2600">
                <a:latin typeface="Courier New"/>
                <a:ea typeface="Courier New"/>
                <a:cs typeface="Courier New"/>
                <a:sym typeface="Courier New"/>
              </a:rPr>
              <a:t>openssl rsa -in private.pem -pubout &gt; public.pem</a:t>
            </a:r>
            <a:endParaRPr sz="260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406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Content of public.pem: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0" name="Google Shape;260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4613" y="2877275"/>
            <a:ext cx="10258425" cy="179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34138" y="4801463"/>
            <a:ext cx="10239375" cy="1476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OpenSSL Tools: Encryption and Decryption</a:t>
            </a:r>
            <a:endParaRPr/>
          </a:p>
        </p:txBody>
      </p:sp>
      <p:sp>
        <p:nvSpPr>
          <p:cNvPr id="268" name="Google Shape;268;p37"/>
          <p:cNvSpPr txBox="1">
            <a:spLocks noGrp="1"/>
          </p:cNvSpPr>
          <p:nvPr>
            <p:ph type="body" idx="1"/>
          </p:nvPr>
        </p:nvSpPr>
        <p:spPr>
          <a:xfrm>
            <a:off x="838200" y="1597025"/>
            <a:ext cx="10515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406400" algn="l" rtl="0">
              <a:spcBef>
                <a:spcPts val="100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Plain Text</a:t>
            </a:r>
            <a:endParaRPr/>
          </a:p>
          <a:p>
            <a:pPr marL="9144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457200" lvl="0" indent="-406400" algn="l" rtl="0">
              <a:spcBef>
                <a:spcPts val="100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Encryption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457200" lvl="0" indent="-4064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Decryption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9" name="Google Shape;269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58750" y="2390700"/>
            <a:ext cx="8601075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58750" y="3546338"/>
            <a:ext cx="8441292" cy="604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58750" y="5137575"/>
            <a:ext cx="8441299" cy="899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206</Words>
  <Application>Microsoft Office PowerPoint</Application>
  <PresentationFormat>شاشة عريضة</PresentationFormat>
  <Paragraphs>53</Paragraphs>
  <Slides>10</Slides>
  <Notes>10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Office Theme</vt:lpstr>
      <vt:lpstr>Public Key Cryptography</vt:lpstr>
      <vt:lpstr>Outline</vt:lpstr>
      <vt:lpstr>RSA Algorithm</vt:lpstr>
      <vt:lpstr>RSA: Key Generation</vt:lpstr>
      <vt:lpstr>Hybrid Encryption</vt:lpstr>
      <vt:lpstr>Using OpenSSL Tools to Conduct RSA Operations</vt:lpstr>
      <vt:lpstr>OpenSSL Tools: Generating RSA keys </vt:lpstr>
      <vt:lpstr>OpenSSL Tools: Generating RSA keys (Contd.)</vt:lpstr>
      <vt:lpstr>OpenSSL Tools: Extracting Public Key </vt:lpstr>
      <vt:lpstr>OpenSSL Tools: Encryption and Decryption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Public Key Cryptography</dc:title>
  <cp:lastModifiedBy>user</cp:lastModifiedBy>
  <cp:revision>7</cp:revision>
  <dcterms:modified xsi:type="dcterms:W3CDTF">2025-10-26T21:28:30Z</dcterms:modified>
</cp:coreProperties>
</file>